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D1F2D"/>
                </a:solidFill>
                <a:latin typeface="Arial"/>
              </a:defRPr>
            </a:pPr>
            <a:r>
              <a:rPr sz="1100" b="0" i="0" u="none" strike="noStrike">
                <a:solidFill>
                  <a:srgbClr val="0D1F2D"/>
                </a:solidFill>
                <a:latin typeface="Arial"/>
              </a:rPr>
              <a:t>Training &amp; Validation Loss (MSE)</a:t>
            </a:r>
          </a:p>
        </c:rich>
      </c:tx>
      <c:layout/>
      <c:overlay val="0"/>
    </c:title>
    <c:autoTitleDeleted val="0"/>
    <c:plotArea>
      <c:layout/>
      <c:lineChart>
        <c:varyColors val="0"/>
        <c:ser>
          <c:idx val="0"/>
          <c:order val="0"/>
          <c:tx>
            <c:strRef>
              <c:f>Sheet1!$B$1</c:f>
              <c:strCache>
                <c:ptCount val="1"/>
                <c:pt idx="0">
                  <c:v>Train Loss</c:v>
                </c:pt>
              </c:strCache>
            </c:strRef>
          </c:tx>
          <c:spPr>
            <a:solidFill>
              <a:srgbClr val="00796B"/>
            </a:solidFill>
            <a:ln w="31750" cap="flat">
              <a:solidFill>
                <a:srgbClr val="0079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796B"/>
              </a:solidFill>
              <a:ln w="9525" cap="flat">
                <a:solidFill>
                  <a:srgbClr val="00796B"/>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45152</c:v>
                </c:pt>
                <c:pt idx="1">
                  <c:v>31729</c:v>
                </c:pt>
                <c:pt idx="2">
                  <c:v>26039</c:v>
                </c:pt>
                <c:pt idx="3">
                  <c:v>28865</c:v>
                </c:pt>
                <c:pt idx="4">
                  <c:v>24853</c:v>
                </c:pt>
                <c:pt idx="5">
                  <c:v>25491</c:v>
                </c:pt>
                <c:pt idx="6">
                  <c:v>24179</c:v>
                </c:pt>
                <c:pt idx="7">
                  <c:v>20751</c:v>
                </c:pt>
                <c:pt idx="8">
                  <c:v>21580</c:v>
                </c:pt>
                <c:pt idx="9">
                  <c:v>19037</c:v>
                </c:pt>
              </c:numCache>
            </c:numRef>
          </c:val>
          <c:smooth val="1"/>
        </c:ser>
        <c:ser>
          <c:idx val="1"/>
          <c:order val="1"/>
          <c:tx>
            <c:strRef>
              <c:f>Sheet1!$C$1</c:f>
              <c:strCache>
                <c:ptCount val="1"/>
                <c:pt idx="0">
                  <c:v>Val Loss</c:v>
                </c:pt>
              </c:strCache>
            </c:strRef>
          </c:tx>
          <c:spPr>
            <a:solidFill>
              <a:srgbClr val="FF6F00"/>
            </a:solidFill>
            <a:ln w="31750" cap="flat">
              <a:solidFill>
                <a:srgbClr val="FF6F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F00"/>
              </a:solidFill>
              <a:ln w="9525" cap="flat">
                <a:solidFill>
                  <a:srgbClr val="FF6F00"/>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34370</c:v>
                </c:pt>
                <c:pt idx="1">
                  <c:v>17642</c:v>
                </c:pt>
                <c:pt idx="2">
                  <c:v>16117</c:v>
                </c:pt>
                <c:pt idx="3">
                  <c:v>20069</c:v>
                </c:pt>
                <c:pt idx="4">
                  <c:v>21669</c:v>
                </c:pt>
                <c:pt idx="5">
                  <c:v>13735</c:v>
                </c:pt>
                <c:pt idx="6">
                  <c:v>17434</c:v>
                </c:pt>
                <c:pt idx="7">
                  <c:v>14726</c:v>
                </c:pt>
                <c:pt idx="8">
                  <c:v>12207</c:v>
                </c:pt>
                <c:pt idx="9">
                  <c:v>15681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D1F2D"/>
                </a:solidFill>
                <a:latin typeface="Arial"/>
              </a:defRPr>
            </a:pPr>
            <a:r>
              <a:rPr sz="1100" b="0" i="0" u="none" strike="noStrike">
                <a:solidFill>
                  <a:srgbClr val="0D1F2D"/>
                </a:solidFill>
                <a:latin typeface="Arial"/>
              </a:rPr>
              <a:t>MAE &amp; RMSE Comparison (kcal) — Lower is Better</a:t>
            </a:r>
          </a:p>
        </c:rich>
      </c:tx>
      <c:layout/>
      <c:overlay val="0"/>
    </c:title>
    <c:autoTitleDeleted val="0"/>
    <c:plotArea>
      <c:layout/>
      <c:barChart>
        <c:barDir val="col"/>
        <c:grouping val="clustered"/>
        <c:varyColors val="0"/>
        <c:ser>
          <c:idx val="0"/>
          <c:order val="0"/>
          <c:tx>
            <c:strRef>
              <c:f>Sheet1!$B$1</c:f>
              <c:strCache>
                <c:ptCount val="1"/>
                <c:pt idx="0">
                  <c:v>CNN Scratch</c:v>
                </c:pt>
              </c:strCache>
            </c:strRef>
          </c:tx>
          <c:spPr>
            <a:solidFill>
              <a:srgbClr val="00796B"/>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MAE (kcal)</c:v>
                  </c:pt>
                  <c:pt idx="1">
                    <c:v>RMSE (kcal)</c:v>
                  </c:pt>
                </c:lvl>
              </c:multiLvlStrCache>
            </c:multiLvlStrRef>
          </c:cat>
          <c:val>
            <c:numRef>
              <c:f>Sheet1!$B$2:$B$3</c:f>
              <c:numCache>
                <c:formatCode>General</c:formatCode>
                <c:ptCount val="2"/>
                <c:pt idx="0">
                  <c:v>104.91</c:v>
                </c:pt>
                <c:pt idx="1">
                  <c:v>142.45</c:v>
                </c:pt>
              </c:numCache>
            </c:numRef>
          </c:val>
        </c:ser>
        <c:ser>
          <c:idx val="1"/>
          <c:order val="1"/>
          <c:tx>
            <c:strRef>
              <c:f>Sheet1!$C$1</c:f>
              <c:strCache>
                <c:ptCount val="1"/>
                <c:pt idx="0">
                  <c:v>MobileNetV2 TL</c:v>
                </c:pt>
              </c:strCache>
            </c:strRef>
          </c:tx>
          <c:spPr>
            <a:solidFill>
              <a:srgbClr val="546E7A"/>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MAE (kcal)</c:v>
                  </c:pt>
                  <c:pt idx="1">
                    <c:v>RMSE (kcal)</c:v>
                  </c:pt>
                </c:lvl>
              </c:multiLvlStrCache>
            </c:multiLvlStrRef>
          </c:cat>
          <c:val>
            <c:numRef>
              <c:f>Sheet1!$C$2:$C$3</c:f>
              <c:numCache>
                <c:formatCode>General</c:formatCode>
                <c:ptCount val="2"/>
                <c:pt idx="0">
                  <c:v>149.85</c:v>
                </c:pt>
                <c:pt idx="1">
                  <c:v>199.56</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D1F2D"/>
                </a:solidFill>
                <a:latin typeface="Arial"/>
              </a:defRPr>
            </a:pPr>
            <a:r>
              <a:rPr sz="1100" b="0" i="0" u="none" strike="noStrike">
                <a:solidFill>
                  <a:srgbClr val="0D1F2D"/>
                </a:solidFill>
                <a:latin typeface="Arial"/>
              </a:rPr>
              <a:t>R² Score — Higher is Better</a:t>
            </a:r>
          </a:p>
        </c:rich>
      </c:tx>
      <c:layout/>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00796B"/>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0796B"/>
              </a:solidFill>
              <a:effectLst/>
            </c:spPr>
          </c:dPt>
          <c:dPt>
            <c:idx val="1"/>
            <c:invertIfNegative val="0"/>
            <c:bubble3D val="0"/>
            <c:spPr>
              <a:solidFill>
                <a:srgbClr val="546E7A"/>
              </a:solidFill>
              <a:effectLst/>
            </c:spPr>
          </c:dPt>
          <c:cat>
            <c:multiLvlStrRef>
              <c:f>Sheet1!$A$2:$A$3</c:f>
              <c:multiLvlStrCache>
                <c:ptCount val="2"/>
                <c:lvl>
                  <c:pt idx="0">
                    <c:v>CNN Scratch</c:v>
                  </c:pt>
                  <c:pt idx="1">
                    <c:v>MobileNetV2</c:v>
                  </c:pt>
                </c:lvl>
              </c:multiLvlStrCache>
            </c:multiLvlStrRef>
          </c:cat>
          <c:val>
            <c:numRef>
              <c:f>Sheet1!$B$2:$B$3</c:f>
              <c:numCache>
                <c:formatCode>General</c:formatCode>
                <c:ptCount val="2"/>
                <c:pt idx="0">
                  <c:v>0.604</c:v>
                </c:pt>
                <c:pt idx="1">
                  <c:v>0.223</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0796B"/>
          </a:solidFill>
          <a:ln/>
        </p:spPr>
      </p:sp>
      <p:sp>
        <p:nvSpPr>
          <p:cNvPr id="3" name="Shape 1"/>
          <p:cNvSpPr/>
          <p:nvPr/>
        </p:nvSpPr>
        <p:spPr>
          <a:xfrm>
            <a:off x="3474720" y="0"/>
            <a:ext cx="54864" cy="5143500"/>
          </a:xfrm>
          <a:prstGeom prst="rect">
            <a:avLst/>
          </a:prstGeom>
          <a:solidFill>
            <a:srgbClr val="FF6F00"/>
          </a:solidFill>
          <a:ln/>
        </p:spPr>
      </p:sp>
      <p:pic>
        <p:nvPicPr>
          <p:cNvPr id="4" name="Image 0" descr="preencoded.png">    </p:cNvPr>
          <p:cNvPicPr>
            <a:picLocks noChangeAspect="1"/>
          </p:cNvPicPr>
          <p:nvPr/>
        </p:nvPicPr>
        <p:blipFill>
          <a:blip r:embed="rId1"/>
          <a:stretch>
            <a:fillRect/>
          </a:stretch>
        </p:blipFill>
        <p:spPr>
          <a:xfrm>
            <a:off x="1188720" y="640080"/>
            <a:ext cx="1097280" cy="1097280"/>
          </a:xfrm>
          <a:prstGeom prst="rect">
            <a:avLst/>
          </a:prstGeom>
        </p:spPr>
      </p:pic>
      <p:sp>
        <p:nvSpPr>
          <p:cNvPr id="5" name="Text 2"/>
          <p:cNvSpPr/>
          <p:nvPr/>
        </p:nvSpPr>
        <p:spPr>
          <a:xfrm>
            <a:off x="137160" y="1920240"/>
            <a:ext cx="3200400" cy="822960"/>
          </a:xfrm>
          <a:prstGeom prst="rect">
            <a:avLst/>
          </a:prstGeom>
          <a:noFill/>
          <a:ln/>
        </p:spPr>
        <p:txBody>
          <a:bodyPr wrap="square" rtlCol="0" anchor="ctr"/>
          <a:lstStyle/>
          <a:p>
            <a:pPr algn="ctr" indent="0" marL="0">
              <a:buNone/>
            </a:pPr>
            <a:r>
              <a:rPr lang="en-US" sz="1200" b="1" spc="200" kern="0" dirty="0">
                <a:solidFill>
                  <a:srgbClr val="FFFFFF"/>
                </a:solidFill>
              </a:rPr>
              <a:t>COMPUTER VISION</a:t>
            </a:r>
            <a:endParaRPr lang="en-US" sz="1200" dirty="0"/>
          </a:p>
          <a:p>
            <a:pPr algn="ctr" indent="0" marL="0">
              <a:buNone/>
            </a:pPr>
            <a:r>
              <a:rPr lang="en-US" sz="1200" b="1" spc="200" kern="0" dirty="0">
                <a:solidFill>
                  <a:srgbClr val="FFFFFF"/>
                </a:solidFill>
              </a:rPr>
              <a:t>&amp; IMAGE PROCESSING</a:t>
            </a:r>
            <a:endParaRPr lang="en-US" sz="1200" dirty="0"/>
          </a:p>
        </p:txBody>
      </p:sp>
      <p:sp>
        <p:nvSpPr>
          <p:cNvPr id="6" name="Text 3"/>
          <p:cNvSpPr/>
          <p:nvPr/>
        </p:nvSpPr>
        <p:spPr>
          <a:xfrm>
            <a:off x="137160" y="2788920"/>
            <a:ext cx="3200400" cy="365760"/>
          </a:xfrm>
          <a:prstGeom prst="rect">
            <a:avLst/>
          </a:prstGeom>
          <a:noFill/>
          <a:ln/>
        </p:spPr>
        <p:txBody>
          <a:bodyPr wrap="square" rtlCol="0" anchor="ctr"/>
          <a:lstStyle/>
          <a:p>
            <a:pPr algn="ctr" indent="0" marL="0">
              <a:buNone/>
            </a:pPr>
            <a:r>
              <a:rPr lang="en-US" sz="1100" i="1" dirty="0">
                <a:solidFill>
                  <a:srgbClr val="B2DFDB"/>
                </a:solidFill>
              </a:rPr>
              <a:t>Final Project — 2026</a:t>
            </a:r>
            <a:endParaRPr lang="en-US" sz="1100" dirty="0"/>
          </a:p>
        </p:txBody>
      </p:sp>
      <p:sp>
        <p:nvSpPr>
          <p:cNvPr id="7" name="Text 4"/>
          <p:cNvSpPr/>
          <p:nvPr/>
        </p:nvSpPr>
        <p:spPr>
          <a:xfrm>
            <a:off x="137160" y="3291840"/>
            <a:ext cx="3200400" cy="274320"/>
          </a:xfrm>
          <a:prstGeom prst="rect">
            <a:avLst/>
          </a:prstGeom>
          <a:noFill/>
          <a:ln/>
        </p:spPr>
        <p:txBody>
          <a:bodyPr wrap="square" rtlCol="0" anchor="ctr"/>
          <a:lstStyle/>
          <a:p>
            <a:pPr algn="ctr" indent="0" marL="0">
              <a:buNone/>
            </a:pPr>
            <a:r>
              <a:rPr lang="en-US" sz="1000" b="1" spc="300" kern="0" dirty="0">
                <a:solidFill>
                  <a:srgbClr val="FF6F00"/>
                </a:solidFill>
              </a:rPr>
              <a:t>TEAM</a:t>
            </a:r>
            <a:endParaRPr lang="en-US" sz="1000" dirty="0"/>
          </a:p>
        </p:txBody>
      </p:sp>
      <p:sp>
        <p:nvSpPr>
          <p:cNvPr id="8" name="Text 5"/>
          <p:cNvSpPr/>
          <p:nvPr/>
        </p:nvSpPr>
        <p:spPr>
          <a:xfrm>
            <a:off x="137160" y="3639312"/>
            <a:ext cx="3200400" cy="256032"/>
          </a:xfrm>
          <a:prstGeom prst="rect">
            <a:avLst/>
          </a:prstGeom>
          <a:noFill/>
          <a:ln/>
        </p:spPr>
        <p:txBody>
          <a:bodyPr wrap="square" rtlCol="0" anchor="ctr"/>
          <a:lstStyle/>
          <a:p>
            <a:pPr algn="ctr" indent="0" marL="0">
              <a:buNone/>
            </a:pPr>
            <a:r>
              <a:rPr lang="en-US" sz="950" dirty="0">
                <a:solidFill>
                  <a:srgbClr val="FFFFFF"/>
                </a:solidFill>
              </a:rPr>
              <a:t>Mariam Khalil Ibrahim — 230101792</a:t>
            </a:r>
            <a:endParaRPr lang="en-US" sz="950" dirty="0"/>
          </a:p>
        </p:txBody>
      </p:sp>
      <p:sp>
        <p:nvSpPr>
          <p:cNvPr id="9" name="Text 6"/>
          <p:cNvSpPr/>
          <p:nvPr/>
        </p:nvSpPr>
        <p:spPr>
          <a:xfrm>
            <a:off x="137160" y="3931920"/>
            <a:ext cx="3200400" cy="256032"/>
          </a:xfrm>
          <a:prstGeom prst="rect">
            <a:avLst/>
          </a:prstGeom>
          <a:noFill/>
          <a:ln/>
        </p:spPr>
        <p:txBody>
          <a:bodyPr wrap="square" rtlCol="0" anchor="ctr"/>
          <a:lstStyle/>
          <a:p>
            <a:pPr algn="ctr" indent="0" marL="0">
              <a:buNone/>
            </a:pPr>
            <a:r>
              <a:rPr lang="en-US" sz="950" dirty="0">
                <a:solidFill>
                  <a:srgbClr val="FFFFFF"/>
                </a:solidFill>
              </a:rPr>
              <a:t>Mahmoud Usama Abdelhameed — 230103270</a:t>
            </a:r>
            <a:endParaRPr lang="en-US" sz="950" dirty="0"/>
          </a:p>
        </p:txBody>
      </p:sp>
      <p:sp>
        <p:nvSpPr>
          <p:cNvPr id="10" name="Text 7"/>
          <p:cNvSpPr/>
          <p:nvPr/>
        </p:nvSpPr>
        <p:spPr>
          <a:xfrm>
            <a:off x="137160" y="4224528"/>
            <a:ext cx="3200400" cy="256032"/>
          </a:xfrm>
          <a:prstGeom prst="rect">
            <a:avLst/>
          </a:prstGeom>
          <a:noFill/>
          <a:ln/>
        </p:spPr>
        <p:txBody>
          <a:bodyPr wrap="square" rtlCol="0" anchor="ctr"/>
          <a:lstStyle/>
          <a:p>
            <a:pPr algn="ctr" indent="0" marL="0">
              <a:buNone/>
            </a:pPr>
            <a:r>
              <a:rPr lang="en-US" sz="950" dirty="0">
                <a:solidFill>
                  <a:srgbClr val="FFFFFF"/>
                </a:solidFill>
              </a:rPr>
              <a:t>Omar Abdulaal Reda — 230103273</a:t>
            </a:r>
            <a:endParaRPr lang="en-US" sz="950" dirty="0"/>
          </a:p>
        </p:txBody>
      </p:sp>
      <p:sp>
        <p:nvSpPr>
          <p:cNvPr id="11" name="Text 8"/>
          <p:cNvSpPr/>
          <p:nvPr/>
        </p:nvSpPr>
        <p:spPr>
          <a:xfrm>
            <a:off x="3840480" y="640080"/>
            <a:ext cx="5120640" cy="1828800"/>
          </a:xfrm>
          <a:prstGeom prst="rect">
            <a:avLst/>
          </a:prstGeom>
          <a:noFill/>
          <a:ln/>
        </p:spPr>
        <p:txBody>
          <a:bodyPr wrap="square" rtlCol="0" anchor="ctr"/>
          <a:lstStyle/>
          <a:p>
            <a:pPr algn="l" indent="0" marL="0">
              <a:lnSpc>
                <a:spcPct val="110000"/>
              </a:lnSpc>
              <a:buNone/>
            </a:pPr>
            <a:r>
              <a:rPr lang="en-US" sz="4600" b="1" dirty="0">
                <a:solidFill>
                  <a:srgbClr val="FFFFFF"/>
                </a:solidFill>
              </a:rPr>
              <a:t>Food Calorie</a:t>
            </a:r>
            <a:endParaRPr lang="en-US" sz="4600" dirty="0"/>
          </a:p>
          <a:p>
            <a:pPr algn="l" indent="0" marL="0">
              <a:lnSpc>
                <a:spcPct val="110000"/>
              </a:lnSpc>
              <a:buNone/>
            </a:pPr>
            <a:r>
              <a:rPr lang="en-US" sz="4600" b="1" dirty="0">
                <a:solidFill>
                  <a:srgbClr val="FFFFFF"/>
                </a:solidFill>
              </a:rPr>
              <a:t>Estimator</a:t>
            </a:r>
            <a:endParaRPr lang="en-US" sz="4600" dirty="0"/>
          </a:p>
        </p:txBody>
      </p:sp>
      <p:sp>
        <p:nvSpPr>
          <p:cNvPr id="12" name="Text 9"/>
          <p:cNvSpPr/>
          <p:nvPr/>
        </p:nvSpPr>
        <p:spPr>
          <a:xfrm>
            <a:off x="3840480" y="2331720"/>
            <a:ext cx="5120640" cy="594360"/>
          </a:xfrm>
          <a:prstGeom prst="rect">
            <a:avLst/>
          </a:prstGeom>
          <a:noFill/>
          <a:ln/>
        </p:spPr>
        <p:txBody>
          <a:bodyPr wrap="square" rtlCol="0" anchor="ctr"/>
          <a:lstStyle/>
          <a:p>
            <a:pPr algn="l" indent="0" marL="0">
              <a:buNone/>
            </a:pPr>
            <a:r>
              <a:rPr lang="en-US" sz="3000" b="1" dirty="0">
                <a:solidFill>
                  <a:srgbClr val="4DB6AC"/>
                </a:solidFill>
              </a:rPr>
              <a:t>from Image</a:t>
            </a:r>
            <a:endParaRPr lang="en-US" sz="3000" dirty="0"/>
          </a:p>
        </p:txBody>
      </p:sp>
      <p:sp>
        <p:nvSpPr>
          <p:cNvPr id="13" name="Text 10"/>
          <p:cNvSpPr/>
          <p:nvPr/>
        </p:nvSpPr>
        <p:spPr>
          <a:xfrm>
            <a:off x="3840480" y="3063240"/>
            <a:ext cx="5120640" cy="365760"/>
          </a:xfrm>
          <a:prstGeom prst="rect">
            <a:avLst/>
          </a:prstGeom>
          <a:noFill/>
          <a:ln/>
        </p:spPr>
        <p:txBody>
          <a:bodyPr wrap="square" rtlCol="0" anchor="ctr"/>
          <a:lstStyle/>
          <a:p>
            <a:pPr algn="l" indent="0" marL="0">
              <a:buNone/>
            </a:pPr>
            <a:r>
              <a:rPr lang="en-US" sz="1300" i="1" dirty="0">
                <a:solidFill>
                  <a:srgbClr val="B0BEC5"/>
                </a:solidFill>
              </a:rPr>
              <a:t>Deep Learning  ·  PyTorch  ·  Streamlit Deployment</a:t>
            </a:r>
            <a:endParaRPr lang="en-US" sz="1300" dirty="0"/>
          </a:p>
        </p:txBody>
      </p:sp>
      <p:sp>
        <p:nvSpPr>
          <p:cNvPr id="14" name="Shape 11"/>
          <p:cNvSpPr/>
          <p:nvPr/>
        </p:nvSpPr>
        <p:spPr>
          <a:xfrm>
            <a:off x="3840480" y="3611880"/>
            <a:ext cx="1207008" cy="274320"/>
          </a:xfrm>
          <a:prstGeom prst="rect">
            <a:avLst/>
          </a:prstGeom>
          <a:solidFill>
            <a:srgbClr val="37474F"/>
          </a:solidFill>
          <a:ln/>
        </p:spPr>
      </p:sp>
      <p:sp>
        <p:nvSpPr>
          <p:cNvPr id="15" name="Text 12"/>
          <p:cNvSpPr/>
          <p:nvPr/>
        </p:nvSpPr>
        <p:spPr>
          <a:xfrm>
            <a:off x="3840480" y="3611880"/>
            <a:ext cx="1207008" cy="274320"/>
          </a:xfrm>
          <a:prstGeom prst="rect">
            <a:avLst/>
          </a:prstGeom>
          <a:noFill/>
          <a:ln/>
        </p:spPr>
        <p:txBody>
          <a:bodyPr wrap="square" lIns="0" tIns="0" rIns="0" bIns="0" rtlCol="0" anchor="ctr"/>
          <a:lstStyle/>
          <a:p>
            <a:pPr algn="ctr" indent="0" marL="0">
              <a:buNone/>
            </a:pPr>
            <a:r>
              <a:rPr lang="en-US" sz="900" dirty="0">
                <a:solidFill>
                  <a:srgbClr val="4DB6AC"/>
                </a:solidFill>
              </a:rPr>
              <a:t>CNN from Scratch</a:t>
            </a:r>
            <a:endParaRPr lang="en-US" sz="900" dirty="0"/>
          </a:p>
        </p:txBody>
      </p:sp>
      <p:sp>
        <p:nvSpPr>
          <p:cNvPr id="16" name="Shape 13"/>
          <p:cNvSpPr/>
          <p:nvPr/>
        </p:nvSpPr>
        <p:spPr>
          <a:xfrm>
            <a:off x="5138928" y="3611880"/>
            <a:ext cx="1207008" cy="274320"/>
          </a:xfrm>
          <a:prstGeom prst="rect">
            <a:avLst/>
          </a:prstGeom>
          <a:solidFill>
            <a:srgbClr val="37474F"/>
          </a:solidFill>
          <a:ln/>
        </p:spPr>
      </p:sp>
      <p:sp>
        <p:nvSpPr>
          <p:cNvPr id="17" name="Text 14"/>
          <p:cNvSpPr/>
          <p:nvPr/>
        </p:nvSpPr>
        <p:spPr>
          <a:xfrm>
            <a:off x="5138928" y="3611880"/>
            <a:ext cx="1207008" cy="274320"/>
          </a:xfrm>
          <a:prstGeom prst="rect">
            <a:avLst/>
          </a:prstGeom>
          <a:noFill/>
          <a:ln/>
        </p:spPr>
        <p:txBody>
          <a:bodyPr wrap="square" lIns="0" tIns="0" rIns="0" bIns="0" rtlCol="0" anchor="ctr"/>
          <a:lstStyle/>
          <a:p>
            <a:pPr algn="ctr" indent="0" marL="0">
              <a:buNone/>
            </a:pPr>
            <a:r>
              <a:rPr lang="en-US" sz="900" dirty="0">
                <a:solidFill>
                  <a:srgbClr val="4DB6AC"/>
                </a:solidFill>
              </a:rPr>
              <a:t>Transfer Learning</a:t>
            </a:r>
            <a:endParaRPr lang="en-US" sz="900" dirty="0"/>
          </a:p>
        </p:txBody>
      </p:sp>
      <p:sp>
        <p:nvSpPr>
          <p:cNvPr id="18" name="Shape 15"/>
          <p:cNvSpPr/>
          <p:nvPr/>
        </p:nvSpPr>
        <p:spPr>
          <a:xfrm>
            <a:off x="6437376" y="3611880"/>
            <a:ext cx="1207008" cy="274320"/>
          </a:xfrm>
          <a:prstGeom prst="rect">
            <a:avLst/>
          </a:prstGeom>
          <a:solidFill>
            <a:srgbClr val="37474F"/>
          </a:solidFill>
          <a:ln/>
        </p:spPr>
      </p:sp>
      <p:sp>
        <p:nvSpPr>
          <p:cNvPr id="19" name="Text 16"/>
          <p:cNvSpPr/>
          <p:nvPr/>
        </p:nvSpPr>
        <p:spPr>
          <a:xfrm>
            <a:off x="6437376" y="3611880"/>
            <a:ext cx="1207008" cy="274320"/>
          </a:xfrm>
          <a:prstGeom prst="rect">
            <a:avLst/>
          </a:prstGeom>
          <a:noFill/>
          <a:ln/>
        </p:spPr>
        <p:txBody>
          <a:bodyPr wrap="square" lIns="0" tIns="0" rIns="0" bIns="0" rtlCol="0" anchor="ctr"/>
          <a:lstStyle/>
          <a:p>
            <a:pPr algn="ctr" indent="0" marL="0">
              <a:buNone/>
            </a:pPr>
            <a:r>
              <a:rPr lang="en-US" sz="900" dirty="0">
                <a:solidFill>
                  <a:srgbClr val="4DB6AC"/>
                </a:solidFill>
              </a:rPr>
              <a:t>MobileNetV2</a:t>
            </a:r>
            <a:endParaRPr lang="en-US" sz="900" dirty="0"/>
          </a:p>
        </p:txBody>
      </p:sp>
      <p:sp>
        <p:nvSpPr>
          <p:cNvPr id="20" name="Shape 17"/>
          <p:cNvSpPr/>
          <p:nvPr/>
        </p:nvSpPr>
        <p:spPr>
          <a:xfrm>
            <a:off x="7735824" y="3611880"/>
            <a:ext cx="1207008" cy="274320"/>
          </a:xfrm>
          <a:prstGeom prst="rect">
            <a:avLst/>
          </a:prstGeom>
          <a:solidFill>
            <a:srgbClr val="37474F"/>
          </a:solidFill>
          <a:ln/>
        </p:spPr>
      </p:sp>
      <p:sp>
        <p:nvSpPr>
          <p:cNvPr id="21" name="Text 18"/>
          <p:cNvSpPr/>
          <p:nvPr/>
        </p:nvSpPr>
        <p:spPr>
          <a:xfrm>
            <a:off x="7735824" y="3611880"/>
            <a:ext cx="1207008" cy="274320"/>
          </a:xfrm>
          <a:prstGeom prst="rect">
            <a:avLst/>
          </a:prstGeom>
          <a:noFill/>
          <a:ln/>
        </p:spPr>
        <p:txBody>
          <a:bodyPr wrap="square" lIns="0" tIns="0" rIns="0" bIns="0" rtlCol="0" anchor="ctr"/>
          <a:lstStyle/>
          <a:p>
            <a:pPr algn="ctr" indent="0" marL="0">
              <a:buNone/>
            </a:pPr>
            <a:r>
              <a:rPr lang="en-US" sz="900" dirty="0">
                <a:solidFill>
                  <a:srgbClr val="4DB6AC"/>
                </a:solidFill>
              </a:rPr>
              <a:t>Regression</a:t>
            </a:r>
            <a:endParaRPr lang="en-US" sz="900" dirty="0"/>
          </a:p>
        </p:txBody>
      </p:sp>
      <p:sp>
        <p:nvSpPr>
          <p:cNvPr id="22" name="Text 19"/>
          <p:cNvSpPr/>
          <p:nvPr/>
        </p:nvSpPr>
        <p:spPr>
          <a:xfrm>
            <a:off x="3840480" y="4709160"/>
            <a:ext cx="5120640" cy="274320"/>
          </a:xfrm>
          <a:prstGeom prst="rect">
            <a:avLst/>
          </a:prstGeom>
          <a:noFill/>
          <a:ln/>
        </p:spPr>
        <p:txBody>
          <a:bodyPr wrap="square" rtlCol="0" anchor="ctr"/>
          <a:lstStyle/>
          <a:p>
            <a:pPr algn="l" indent="0" marL="0">
              <a:buNone/>
            </a:pPr>
            <a:r>
              <a:rPr lang="en-US" sz="900" dirty="0">
                <a:solidFill>
                  <a:srgbClr val="B0BEC5"/>
                </a:solidFill>
              </a:rPr>
              <a:t>github.com/Mariam-Nassar/Food-Calorie-Estimator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2D"/>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spc="300" kern="0" dirty="0">
                <a:solidFill>
                  <a:srgbClr val="FFFFFF"/>
                </a:solidFill>
              </a:rPr>
              <a:t>PROJECT OVERVIEW</a:t>
            </a:r>
            <a:endParaRPr lang="en-US" sz="1800" dirty="0"/>
          </a:p>
        </p:txBody>
      </p:sp>
      <p:sp>
        <p:nvSpPr>
          <p:cNvPr id="4" name="Shape 2"/>
          <p:cNvSpPr/>
          <p:nvPr/>
        </p:nvSpPr>
        <p:spPr>
          <a:xfrm>
            <a:off x="320040" y="914400"/>
            <a:ext cx="4114800" cy="36576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914400"/>
            <a:ext cx="64008" cy="3657600"/>
          </a:xfrm>
          <a:prstGeom prst="rect">
            <a:avLst/>
          </a:prstGeom>
          <a:solidFill>
            <a:srgbClr val="00796B"/>
          </a:solidFill>
          <a:ln/>
        </p:spPr>
      </p:sp>
      <p:pic>
        <p:nvPicPr>
          <p:cNvPr id="6" name="Image 0" descr="preencoded.png">    </p:cNvPr>
          <p:cNvPicPr>
            <a:picLocks noChangeAspect="1"/>
          </p:cNvPicPr>
          <p:nvPr/>
        </p:nvPicPr>
        <p:blipFill>
          <a:blip r:embed="rId1"/>
          <a:stretch>
            <a:fillRect/>
          </a:stretch>
        </p:blipFill>
        <p:spPr>
          <a:xfrm>
            <a:off x="548640" y="1051560"/>
            <a:ext cx="411480" cy="411480"/>
          </a:xfrm>
          <a:prstGeom prst="rect">
            <a:avLst/>
          </a:prstGeom>
        </p:spPr>
      </p:pic>
      <p:sp>
        <p:nvSpPr>
          <p:cNvPr id="7" name="Shape 4"/>
          <p:cNvSpPr/>
          <p:nvPr/>
        </p:nvSpPr>
        <p:spPr>
          <a:xfrm>
            <a:off x="502920" y="1005840"/>
            <a:ext cx="502920" cy="502920"/>
          </a:xfrm>
          <a:prstGeom prst="oval">
            <a:avLst/>
          </a:prstGeom>
          <a:solidFill>
            <a:srgbClr val="00796B"/>
          </a:solidFill>
          <a:ln/>
        </p:spPr>
      </p:sp>
      <p:pic>
        <p:nvPicPr>
          <p:cNvPr id="8" name="Image 1" descr="preencoded.png">    </p:cNvPr>
          <p:cNvPicPr>
            <a:picLocks noChangeAspect="1"/>
          </p:cNvPicPr>
          <p:nvPr/>
        </p:nvPicPr>
        <p:blipFill>
          <a:blip r:embed="rId2"/>
          <a:stretch>
            <a:fillRect/>
          </a:stretch>
        </p:blipFill>
        <p:spPr>
          <a:xfrm>
            <a:off x="548640" y="1051560"/>
            <a:ext cx="411480" cy="411480"/>
          </a:xfrm>
          <a:prstGeom prst="rect">
            <a:avLst/>
          </a:prstGeom>
        </p:spPr>
      </p:pic>
      <p:sp>
        <p:nvSpPr>
          <p:cNvPr id="9" name="Text 5"/>
          <p:cNvSpPr/>
          <p:nvPr/>
        </p:nvSpPr>
        <p:spPr>
          <a:xfrm>
            <a:off x="1115568" y="1024128"/>
            <a:ext cx="3108960" cy="365760"/>
          </a:xfrm>
          <a:prstGeom prst="rect">
            <a:avLst/>
          </a:prstGeom>
          <a:noFill/>
          <a:ln/>
        </p:spPr>
        <p:txBody>
          <a:bodyPr wrap="square" lIns="0" tIns="0" rIns="0" bIns="0" rtlCol="0" anchor="ctr"/>
          <a:lstStyle/>
          <a:p>
            <a:pPr indent="0" marL="0">
              <a:buNone/>
            </a:pPr>
            <a:r>
              <a:rPr lang="en-US" sz="1600" b="1" dirty="0">
                <a:solidFill>
                  <a:srgbClr val="0D1F2D"/>
                </a:solidFill>
              </a:rPr>
              <a:t>Goal</a:t>
            </a:r>
            <a:endParaRPr lang="en-US" sz="1600" dirty="0"/>
          </a:p>
        </p:txBody>
      </p:sp>
      <p:sp>
        <p:nvSpPr>
          <p:cNvPr id="10" name="Text 6"/>
          <p:cNvSpPr/>
          <p:nvPr/>
        </p:nvSpPr>
        <p:spPr>
          <a:xfrm>
            <a:off x="502920" y="1508760"/>
            <a:ext cx="3749040" cy="914400"/>
          </a:xfrm>
          <a:prstGeom prst="rect">
            <a:avLst/>
          </a:prstGeom>
          <a:noFill/>
          <a:ln/>
        </p:spPr>
        <p:txBody>
          <a:bodyPr wrap="square" rtlCol="0" anchor="ctr"/>
          <a:lstStyle/>
          <a:p>
            <a:pPr algn="l" indent="0" marL="0">
              <a:buNone/>
            </a:pPr>
            <a:r>
              <a:rPr lang="en-US" sz="1200" dirty="0">
                <a:solidFill>
                  <a:srgbClr val="37474F"/>
                </a:solidFill>
              </a:rPr>
              <a:t>Estimate the caloric content of a food dish directly from a single overhead photograph — framed as a continuous regression problem.</a:t>
            </a:r>
            <a:endParaRPr lang="en-US" sz="1200" dirty="0"/>
          </a:p>
        </p:txBody>
      </p:sp>
      <p:sp>
        <p:nvSpPr>
          <p:cNvPr id="11" name="Text 7"/>
          <p:cNvSpPr/>
          <p:nvPr/>
        </p:nvSpPr>
        <p:spPr>
          <a:xfrm>
            <a:off x="502920" y="2542032"/>
            <a:ext cx="3749040" cy="256032"/>
          </a:xfrm>
          <a:prstGeom prst="rect">
            <a:avLst/>
          </a:prstGeom>
          <a:noFill/>
          <a:ln/>
        </p:spPr>
        <p:txBody>
          <a:bodyPr wrap="square" lIns="0" tIns="0" rIns="0" bIns="0" rtlCol="0" anchor="ctr"/>
          <a:lstStyle/>
          <a:p>
            <a:pPr indent="0" marL="0">
              <a:buNone/>
            </a:pPr>
            <a:r>
              <a:rPr lang="en-US" sz="1000" b="1" spc="200" kern="0" dirty="0">
                <a:solidFill>
                  <a:srgbClr val="00796B"/>
                </a:solidFill>
              </a:rPr>
              <a:t>PIPELINE</a:t>
            </a:r>
            <a:endParaRPr lang="en-US" sz="1000" dirty="0"/>
          </a:p>
        </p:txBody>
      </p:sp>
      <p:sp>
        <p:nvSpPr>
          <p:cNvPr id="12" name="Shape 8"/>
          <p:cNvSpPr/>
          <p:nvPr/>
        </p:nvSpPr>
        <p:spPr>
          <a:xfrm>
            <a:off x="502920" y="2852928"/>
            <a:ext cx="201168" cy="201168"/>
          </a:xfrm>
          <a:prstGeom prst="oval">
            <a:avLst/>
          </a:prstGeom>
          <a:solidFill>
            <a:srgbClr val="00796B"/>
          </a:solidFill>
          <a:ln/>
        </p:spPr>
      </p:sp>
      <p:sp>
        <p:nvSpPr>
          <p:cNvPr id="13" name="Text 9"/>
          <p:cNvSpPr/>
          <p:nvPr/>
        </p:nvSpPr>
        <p:spPr>
          <a:xfrm>
            <a:off x="804672" y="2834640"/>
            <a:ext cx="3474720" cy="237744"/>
          </a:xfrm>
          <a:prstGeom prst="rect">
            <a:avLst/>
          </a:prstGeom>
          <a:noFill/>
          <a:ln/>
        </p:spPr>
        <p:txBody>
          <a:bodyPr wrap="square" lIns="0" tIns="0" rIns="0" bIns="0" rtlCol="0" anchor="ctr"/>
          <a:lstStyle/>
          <a:p>
            <a:pPr indent="0" marL="0">
              <a:buNone/>
            </a:pPr>
            <a:r>
              <a:rPr lang="en-US" sz="1100" dirty="0">
                <a:solidFill>
                  <a:srgbClr val="37474F"/>
                </a:solidFill>
              </a:rPr>
              <a:t>Dataset (Nutrition5k)</a:t>
            </a:r>
            <a:endParaRPr lang="en-US" sz="1100" dirty="0"/>
          </a:p>
        </p:txBody>
      </p:sp>
      <p:sp>
        <p:nvSpPr>
          <p:cNvPr id="14" name="Shape 10"/>
          <p:cNvSpPr/>
          <p:nvPr/>
        </p:nvSpPr>
        <p:spPr>
          <a:xfrm>
            <a:off x="502920" y="3182112"/>
            <a:ext cx="201168" cy="201168"/>
          </a:xfrm>
          <a:prstGeom prst="oval">
            <a:avLst/>
          </a:prstGeom>
          <a:solidFill>
            <a:srgbClr val="00796B"/>
          </a:solidFill>
          <a:ln/>
        </p:spPr>
      </p:sp>
      <p:sp>
        <p:nvSpPr>
          <p:cNvPr id="15" name="Text 11"/>
          <p:cNvSpPr/>
          <p:nvPr/>
        </p:nvSpPr>
        <p:spPr>
          <a:xfrm>
            <a:off x="804672" y="3163824"/>
            <a:ext cx="3474720" cy="237744"/>
          </a:xfrm>
          <a:prstGeom prst="rect">
            <a:avLst/>
          </a:prstGeom>
          <a:noFill/>
          <a:ln/>
        </p:spPr>
        <p:txBody>
          <a:bodyPr wrap="square" lIns="0" tIns="0" rIns="0" bIns="0" rtlCol="0" anchor="ctr"/>
          <a:lstStyle/>
          <a:p>
            <a:pPr indent="0" marL="0">
              <a:buNone/>
            </a:pPr>
            <a:r>
              <a:rPr lang="en-US" sz="1100" dirty="0">
                <a:solidFill>
                  <a:srgbClr val="37474F"/>
                </a:solidFill>
              </a:rPr>
              <a:t>Preprocessing &amp; Augmentation</a:t>
            </a:r>
            <a:endParaRPr lang="en-US" sz="1100" dirty="0"/>
          </a:p>
        </p:txBody>
      </p:sp>
      <p:sp>
        <p:nvSpPr>
          <p:cNvPr id="16" name="Shape 12"/>
          <p:cNvSpPr/>
          <p:nvPr/>
        </p:nvSpPr>
        <p:spPr>
          <a:xfrm>
            <a:off x="502920" y="3511296"/>
            <a:ext cx="201168" cy="201168"/>
          </a:xfrm>
          <a:prstGeom prst="oval">
            <a:avLst/>
          </a:prstGeom>
          <a:solidFill>
            <a:srgbClr val="00796B"/>
          </a:solidFill>
          <a:ln/>
        </p:spPr>
      </p:sp>
      <p:sp>
        <p:nvSpPr>
          <p:cNvPr id="17" name="Text 13"/>
          <p:cNvSpPr/>
          <p:nvPr/>
        </p:nvSpPr>
        <p:spPr>
          <a:xfrm>
            <a:off x="804672" y="3493008"/>
            <a:ext cx="3474720" cy="237744"/>
          </a:xfrm>
          <a:prstGeom prst="rect">
            <a:avLst/>
          </a:prstGeom>
          <a:noFill/>
          <a:ln/>
        </p:spPr>
        <p:txBody>
          <a:bodyPr wrap="square" lIns="0" tIns="0" rIns="0" bIns="0" rtlCol="0" anchor="ctr"/>
          <a:lstStyle/>
          <a:p>
            <a:pPr indent="0" marL="0">
              <a:buNone/>
            </a:pPr>
            <a:r>
              <a:rPr lang="en-US" sz="1100" dirty="0">
                <a:solidFill>
                  <a:srgbClr val="37474F"/>
                </a:solidFill>
              </a:rPr>
              <a:t>CNN from Scratch + MobileNetV2</a:t>
            </a:r>
            <a:endParaRPr lang="en-US" sz="1100" dirty="0"/>
          </a:p>
        </p:txBody>
      </p:sp>
      <p:sp>
        <p:nvSpPr>
          <p:cNvPr id="18" name="Shape 14"/>
          <p:cNvSpPr/>
          <p:nvPr/>
        </p:nvSpPr>
        <p:spPr>
          <a:xfrm>
            <a:off x="502920" y="3840480"/>
            <a:ext cx="201168" cy="201168"/>
          </a:xfrm>
          <a:prstGeom prst="oval">
            <a:avLst/>
          </a:prstGeom>
          <a:solidFill>
            <a:srgbClr val="00796B"/>
          </a:solidFill>
          <a:ln/>
        </p:spPr>
      </p:sp>
      <p:sp>
        <p:nvSpPr>
          <p:cNvPr id="19" name="Text 15"/>
          <p:cNvSpPr/>
          <p:nvPr/>
        </p:nvSpPr>
        <p:spPr>
          <a:xfrm>
            <a:off x="804672" y="3822192"/>
            <a:ext cx="3474720" cy="237744"/>
          </a:xfrm>
          <a:prstGeom prst="rect">
            <a:avLst/>
          </a:prstGeom>
          <a:noFill/>
          <a:ln/>
        </p:spPr>
        <p:txBody>
          <a:bodyPr wrap="square" lIns="0" tIns="0" rIns="0" bIns="0" rtlCol="0" anchor="ctr"/>
          <a:lstStyle/>
          <a:p>
            <a:pPr indent="0" marL="0">
              <a:buNone/>
            </a:pPr>
            <a:r>
              <a:rPr lang="en-US" sz="1100" dirty="0">
                <a:solidFill>
                  <a:srgbClr val="37474F"/>
                </a:solidFill>
              </a:rPr>
              <a:t>Evaluation (MAE, MSE, RMSE, R²)</a:t>
            </a:r>
            <a:endParaRPr lang="en-US" sz="1100" dirty="0"/>
          </a:p>
        </p:txBody>
      </p:sp>
      <p:sp>
        <p:nvSpPr>
          <p:cNvPr id="20" name="Shape 16"/>
          <p:cNvSpPr/>
          <p:nvPr/>
        </p:nvSpPr>
        <p:spPr>
          <a:xfrm>
            <a:off x="502920" y="4169664"/>
            <a:ext cx="201168" cy="201168"/>
          </a:xfrm>
          <a:prstGeom prst="oval">
            <a:avLst/>
          </a:prstGeom>
          <a:solidFill>
            <a:srgbClr val="FF6F00"/>
          </a:solidFill>
          <a:ln/>
        </p:spPr>
      </p:sp>
      <p:sp>
        <p:nvSpPr>
          <p:cNvPr id="21" name="Text 17"/>
          <p:cNvSpPr/>
          <p:nvPr/>
        </p:nvSpPr>
        <p:spPr>
          <a:xfrm>
            <a:off x="804672" y="4151376"/>
            <a:ext cx="3474720" cy="237744"/>
          </a:xfrm>
          <a:prstGeom prst="rect">
            <a:avLst/>
          </a:prstGeom>
          <a:noFill/>
          <a:ln/>
        </p:spPr>
        <p:txBody>
          <a:bodyPr wrap="square" lIns="0" tIns="0" rIns="0" bIns="0" rtlCol="0" anchor="ctr"/>
          <a:lstStyle/>
          <a:p>
            <a:pPr indent="0" marL="0">
              <a:buNone/>
            </a:pPr>
            <a:r>
              <a:rPr lang="en-US" sz="1100" b="1" dirty="0">
                <a:solidFill>
                  <a:srgbClr val="FF6F00"/>
                </a:solidFill>
              </a:rPr>
              <a:t>Streamlit Deployment ⭐ Bonus</a:t>
            </a:r>
            <a:endParaRPr lang="en-US" sz="1100" dirty="0"/>
          </a:p>
        </p:txBody>
      </p:sp>
      <p:sp>
        <p:nvSpPr>
          <p:cNvPr id="22" name="Shape 18"/>
          <p:cNvSpPr/>
          <p:nvPr/>
        </p:nvSpPr>
        <p:spPr>
          <a:xfrm>
            <a:off x="4754880" y="914400"/>
            <a:ext cx="4069080" cy="11155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Shape 19"/>
          <p:cNvSpPr/>
          <p:nvPr/>
        </p:nvSpPr>
        <p:spPr>
          <a:xfrm>
            <a:off x="4754880" y="914400"/>
            <a:ext cx="64008" cy="1115568"/>
          </a:xfrm>
          <a:prstGeom prst="rect">
            <a:avLst/>
          </a:prstGeom>
          <a:solidFill>
            <a:srgbClr val="00796B"/>
          </a:solidFill>
          <a:ln/>
        </p:spPr>
      </p:sp>
      <p:sp>
        <p:nvSpPr>
          <p:cNvPr id="24" name="Shape 20"/>
          <p:cNvSpPr/>
          <p:nvPr/>
        </p:nvSpPr>
        <p:spPr>
          <a:xfrm>
            <a:off x="4892040" y="1024128"/>
            <a:ext cx="457200" cy="457200"/>
          </a:xfrm>
          <a:prstGeom prst="oval">
            <a:avLst/>
          </a:prstGeom>
          <a:solidFill>
            <a:srgbClr val="00796B"/>
          </a:solidFill>
          <a:ln/>
        </p:spPr>
      </p:sp>
      <p:pic>
        <p:nvPicPr>
          <p:cNvPr id="25" name="Image 2" descr="preencoded.png">    </p:cNvPr>
          <p:cNvPicPr>
            <a:picLocks noChangeAspect="1"/>
          </p:cNvPicPr>
          <p:nvPr/>
        </p:nvPicPr>
        <p:blipFill>
          <a:blip r:embed="rId3"/>
          <a:stretch>
            <a:fillRect/>
          </a:stretch>
        </p:blipFill>
        <p:spPr>
          <a:xfrm>
            <a:off x="4919472" y="1051560"/>
            <a:ext cx="402336" cy="402336"/>
          </a:xfrm>
          <a:prstGeom prst="rect">
            <a:avLst/>
          </a:prstGeom>
        </p:spPr>
      </p:pic>
      <p:sp>
        <p:nvSpPr>
          <p:cNvPr id="26" name="Text 21"/>
          <p:cNvSpPr/>
          <p:nvPr/>
        </p:nvSpPr>
        <p:spPr>
          <a:xfrm>
            <a:off x="5468112" y="1005840"/>
            <a:ext cx="3200400" cy="292608"/>
          </a:xfrm>
          <a:prstGeom prst="rect">
            <a:avLst/>
          </a:prstGeom>
          <a:noFill/>
          <a:ln/>
        </p:spPr>
        <p:txBody>
          <a:bodyPr wrap="square" lIns="0" tIns="0" rIns="0" bIns="0" rtlCol="0" anchor="ctr"/>
          <a:lstStyle/>
          <a:p>
            <a:pPr indent="0" marL="0">
              <a:buNone/>
            </a:pPr>
            <a:r>
              <a:rPr lang="en-US" sz="1200" b="1" dirty="0">
                <a:solidFill>
                  <a:srgbClr val="0D1F2D"/>
                </a:solidFill>
              </a:rPr>
              <a:t>Mariam Khalil Ibrahim</a:t>
            </a:r>
            <a:endParaRPr lang="en-US" sz="1200" dirty="0"/>
          </a:p>
        </p:txBody>
      </p:sp>
      <p:sp>
        <p:nvSpPr>
          <p:cNvPr id="27" name="Text 22"/>
          <p:cNvSpPr/>
          <p:nvPr/>
        </p:nvSpPr>
        <p:spPr>
          <a:xfrm>
            <a:off x="5468112" y="1298448"/>
            <a:ext cx="3200400" cy="219456"/>
          </a:xfrm>
          <a:prstGeom prst="rect">
            <a:avLst/>
          </a:prstGeom>
          <a:noFill/>
          <a:ln/>
        </p:spPr>
        <p:txBody>
          <a:bodyPr wrap="square" lIns="0" tIns="0" rIns="0" bIns="0" rtlCol="0" anchor="ctr"/>
          <a:lstStyle/>
          <a:p>
            <a:pPr indent="0" marL="0">
              <a:buNone/>
            </a:pPr>
            <a:r>
              <a:rPr lang="en-US" sz="1000" dirty="0">
                <a:solidFill>
                  <a:srgbClr val="546E7A"/>
                </a:solidFill>
              </a:rPr>
              <a:t>ID: 230101792</a:t>
            </a:r>
            <a:endParaRPr lang="en-US" sz="1000" dirty="0"/>
          </a:p>
        </p:txBody>
      </p:sp>
      <p:sp>
        <p:nvSpPr>
          <p:cNvPr id="28" name="Text 23"/>
          <p:cNvSpPr/>
          <p:nvPr/>
        </p:nvSpPr>
        <p:spPr>
          <a:xfrm>
            <a:off x="5468112" y="1554480"/>
            <a:ext cx="3200400" cy="320040"/>
          </a:xfrm>
          <a:prstGeom prst="rect">
            <a:avLst/>
          </a:prstGeom>
          <a:noFill/>
          <a:ln/>
        </p:spPr>
        <p:txBody>
          <a:bodyPr wrap="square" lIns="0" tIns="0" rIns="0" bIns="0" rtlCol="0" anchor="ctr"/>
          <a:lstStyle/>
          <a:p>
            <a:pPr indent="0" marL="0">
              <a:buNone/>
            </a:pPr>
            <a:r>
              <a:rPr lang="en-US" sz="1100" b="1" dirty="0">
                <a:solidFill>
                  <a:srgbClr val="00796B"/>
                </a:solidFill>
              </a:rPr>
              <a:t>Dataset + Preprocessing</a:t>
            </a:r>
            <a:endParaRPr lang="en-US" sz="1100" dirty="0"/>
          </a:p>
        </p:txBody>
      </p:sp>
      <p:sp>
        <p:nvSpPr>
          <p:cNvPr id="29" name="Shape 24"/>
          <p:cNvSpPr/>
          <p:nvPr/>
        </p:nvSpPr>
        <p:spPr>
          <a:xfrm>
            <a:off x="4754880" y="2148840"/>
            <a:ext cx="4069080" cy="11155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5"/>
          <p:cNvSpPr/>
          <p:nvPr/>
        </p:nvSpPr>
        <p:spPr>
          <a:xfrm>
            <a:off x="4754880" y="2148840"/>
            <a:ext cx="64008" cy="1115568"/>
          </a:xfrm>
          <a:prstGeom prst="rect">
            <a:avLst/>
          </a:prstGeom>
          <a:solidFill>
            <a:srgbClr val="4DB6AC"/>
          </a:solidFill>
          <a:ln/>
        </p:spPr>
      </p:sp>
      <p:sp>
        <p:nvSpPr>
          <p:cNvPr id="31" name="Shape 26"/>
          <p:cNvSpPr/>
          <p:nvPr/>
        </p:nvSpPr>
        <p:spPr>
          <a:xfrm>
            <a:off x="4892040" y="2258568"/>
            <a:ext cx="457200" cy="457200"/>
          </a:xfrm>
          <a:prstGeom prst="oval">
            <a:avLst/>
          </a:prstGeom>
          <a:solidFill>
            <a:srgbClr val="4DB6AC"/>
          </a:solidFill>
          <a:ln/>
        </p:spPr>
      </p:sp>
      <p:pic>
        <p:nvPicPr>
          <p:cNvPr id="32" name="Image 3" descr="preencoded.png">    </p:cNvPr>
          <p:cNvPicPr>
            <a:picLocks noChangeAspect="1"/>
          </p:cNvPicPr>
          <p:nvPr/>
        </p:nvPicPr>
        <p:blipFill>
          <a:blip r:embed="rId4"/>
          <a:stretch>
            <a:fillRect/>
          </a:stretch>
        </p:blipFill>
        <p:spPr>
          <a:xfrm>
            <a:off x="4919472" y="2286000"/>
            <a:ext cx="402336" cy="402336"/>
          </a:xfrm>
          <a:prstGeom prst="rect">
            <a:avLst/>
          </a:prstGeom>
        </p:spPr>
      </p:pic>
      <p:sp>
        <p:nvSpPr>
          <p:cNvPr id="33" name="Text 27"/>
          <p:cNvSpPr/>
          <p:nvPr/>
        </p:nvSpPr>
        <p:spPr>
          <a:xfrm>
            <a:off x="5468112" y="2240280"/>
            <a:ext cx="3200400" cy="292608"/>
          </a:xfrm>
          <a:prstGeom prst="rect">
            <a:avLst/>
          </a:prstGeom>
          <a:noFill/>
          <a:ln/>
        </p:spPr>
        <p:txBody>
          <a:bodyPr wrap="square" lIns="0" tIns="0" rIns="0" bIns="0" rtlCol="0" anchor="ctr"/>
          <a:lstStyle/>
          <a:p>
            <a:pPr indent="0" marL="0">
              <a:buNone/>
            </a:pPr>
            <a:r>
              <a:rPr lang="en-US" sz="1200" b="1" dirty="0">
                <a:solidFill>
                  <a:srgbClr val="0D1F2D"/>
                </a:solidFill>
              </a:rPr>
              <a:t>Omar Abdulaal Reda</a:t>
            </a:r>
            <a:endParaRPr lang="en-US" sz="1200" dirty="0"/>
          </a:p>
        </p:txBody>
      </p:sp>
      <p:sp>
        <p:nvSpPr>
          <p:cNvPr id="34" name="Text 28"/>
          <p:cNvSpPr/>
          <p:nvPr/>
        </p:nvSpPr>
        <p:spPr>
          <a:xfrm>
            <a:off x="5468112" y="2532888"/>
            <a:ext cx="3200400" cy="219456"/>
          </a:xfrm>
          <a:prstGeom prst="rect">
            <a:avLst/>
          </a:prstGeom>
          <a:noFill/>
          <a:ln/>
        </p:spPr>
        <p:txBody>
          <a:bodyPr wrap="square" lIns="0" tIns="0" rIns="0" bIns="0" rtlCol="0" anchor="ctr"/>
          <a:lstStyle/>
          <a:p>
            <a:pPr indent="0" marL="0">
              <a:buNone/>
            </a:pPr>
            <a:r>
              <a:rPr lang="en-US" sz="1000" dirty="0">
                <a:solidFill>
                  <a:srgbClr val="546E7A"/>
                </a:solidFill>
              </a:rPr>
              <a:t>ID: 230103273</a:t>
            </a:r>
            <a:endParaRPr lang="en-US" sz="1000" dirty="0"/>
          </a:p>
        </p:txBody>
      </p:sp>
      <p:sp>
        <p:nvSpPr>
          <p:cNvPr id="35" name="Text 29"/>
          <p:cNvSpPr/>
          <p:nvPr/>
        </p:nvSpPr>
        <p:spPr>
          <a:xfrm>
            <a:off x="5468112" y="2788920"/>
            <a:ext cx="3200400" cy="320040"/>
          </a:xfrm>
          <a:prstGeom prst="rect">
            <a:avLst/>
          </a:prstGeom>
          <a:noFill/>
          <a:ln/>
        </p:spPr>
        <p:txBody>
          <a:bodyPr wrap="square" lIns="0" tIns="0" rIns="0" bIns="0" rtlCol="0" anchor="ctr"/>
          <a:lstStyle/>
          <a:p>
            <a:pPr indent="0" marL="0">
              <a:buNone/>
            </a:pPr>
            <a:r>
              <a:rPr lang="en-US" sz="1100" b="1" dirty="0">
                <a:solidFill>
                  <a:srgbClr val="4DB6AC"/>
                </a:solidFill>
              </a:rPr>
              <a:t>CNN + Transfer Learning</a:t>
            </a:r>
            <a:endParaRPr lang="en-US" sz="1100" dirty="0"/>
          </a:p>
        </p:txBody>
      </p:sp>
      <p:sp>
        <p:nvSpPr>
          <p:cNvPr id="36" name="Shape 30"/>
          <p:cNvSpPr/>
          <p:nvPr/>
        </p:nvSpPr>
        <p:spPr>
          <a:xfrm>
            <a:off x="4754880" y="3383280"/>
            <a:ext cx="4069080" cy="11155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7" name="Shape 31"/>
          <p:cNvSpPr/>
          <p:nvPr/>
        </p:nvSpPr>
        <p:spPr>
          <a:xfrm>
            <a:off x="4754880" y="3383280"/>
            <a:ext cx="64008" cy="1115568"/>
          </a:xfrm>
          <a:prstGeom prst="rect">
            <a:avLst/>
          </a:prstGeom>
          <a:solidFill>
            <a:srgbClr val="FF6F00"/>
          </a:solidFill>
          <a:ln/>
        </p:spPr>
      </p:sp>
      <p:sp>
        <p:nvSpPr>
          <p:cNvPr id="38" name="Shape 32"/>
          <p:cNvSpPr/>
          <p:nvPr/>
        </p:nvSpPr>
        <p:spPr>
          <a:xfrm>
            <a:off x="4892040" y="3493008"/>
            <a:ext cx="457200" cy="457200"/>
          </a:xfrm>
          <a:prstGeom prst="oval">
            <a:avLst/>
          </a:prstGeom>
          <a:solidFill>
            <a:srgbClr val="FF6F00"/>
          </a:solidFill>
          <a:ln/>
        </p:spPr>
      </p:sp>
      <p:pic>
        <p:nvPicPr>
          <p:cNvPr id="39" name="Image 4" descr="preencoded.png">    </p:cNvPr>
          <p:cNvPicPr>
            <a:picLocks noChangeAspect="1"/>
          </p:cNvPicPr>
          <p:nvPr/>
        </p:nvPicPr>
        <p:blipFill>
          <a:blip r:embed="rId5"/>
          <a:stretch>
            <a:fillRect/>
          </a:stretch>
        </p:blipFill>
        <p:spPr>
          <a:xfrm>
            <a:off x="4919472" y="3520440"/>
            <a:ext cx="402336" cy="402336"/>
          </a:xfrm>
          <a:prstGeom prst="rect">
            <a:avLst/>
          </a:prstGeom>
        </p:spPr>
      </p:pic>
      <p:sp>
        <p:nvSpPr>
          <p:cNvPr id="40" name="Text 33"/>
          <p:cNvSpPr/>
          <p:nvPr/>
        </p:nvSpPr>
        <p:spPr>
          <a:xfrm>
            <a:off x="5468112" y="3474720"/>
            <a:ext cx="3200400" cy="292608"/>
          </a:xfrm>
          <a:prstGeom prst="rect">
            <a:avLst/>
          </a:prstGeom>
          <a:noFill/>
          <a:ln/>
        </p:spPr>
        <p:txBody>
          <a:bodyPr wrap="square" lIns="0" tIns="0" rIns="0" bIns="0" rtlCol="0" anchor="ctr"/>
          <a:lstStyle/>
          <a:p>
            <a:pPr indent="0" marL="0">
              <a:buNone/>
            </a:pPr>
            <a:r>
              <a:rPr lang="en-US" sz="1200" b="1" dirty="0">
                <a:solidFill>
                  <a:srgbClr val="0D1F2D"/>
                </a:solidFill>
              </a:rPr>
              <a:t>Mahmoud Usama</a:t>
            </a:r>
            <a:endParaRPr lang="en-US" sz="1200" dirty="0"/>
          </a:p>
        </p:txBody>
      </p:sp>
      <p:sp>
        <p:nvSpPr>
          <p:cNvPr id="41" name="Text 34"/>
          <p:cNvSpPr/>
          <p:nvPr/>
        </p:nvSpPr>
        <p:spPr>
          <a:xfrm>
            <a:off x="5468112" y="3767328"/>
            <a:ext cx="3200400" cy="219456"/>
          </a:xfrm>
          <a:prstGeom prst="rect">
            <a:avLst/>
          </a:prstGeom>
          <a:noFill/>
          <a:ln/>
        </p:spPr>
        <p:txBody>
          <a:bodyPr wrap="square" lIns="0" tIns="0" rIns="0" bIns="0" rtlCol="0" anchor="ctr"/>
          <a:lstStyle/>
          <a:p>
            <a:pPr indent="0" marL="0">
              <a:buNone/>
            </a:pPr>
            <a:r>
              <a:rPr lang="en-US" sz="1000" dirty="0">
                <a:solidFill>
                  <a:srgbClr val="546E7A"/>
                </a:solidFill>
              </a:rPr>
              <a:t>ID: 230103270</a:t>
            </a:r>
            <a:endParaRPr lang="en-US" sz="1000" dirty="0"/>
          </a:p>
        </p:txBody>
      </p:sp>
      <p:sp>
        <p:nvSpPr>
          <p:cNvPr id="42" name="Text 35"/>
          <p:cNvSpPr/>
          <p:nvPr/>
        </p:nvSpPr>
        <p:spPr>
          <a:xfrm>
            <a:off x="5468112" y="4023360"/>
            <a:ext cx="3200400" cy="320040"/>
          </a:xfrm>
          <a:prstGeom prst="rect">
            <a:avLst/>
          </a:prstGeom>
          <a:noFill/>
          <a:ln/>
        </p:spPr>
        <p:txBody>
          <a:bodyPr wrap="square" lIns="0" tIns="0" rIns="0" bIns="0" rtlCol="0" anchor="ctr"/>
          <a:lstStyle/>
          <a:p>
            <a:pPr indent="0" marL="0">
              <a:buNone/>
            </a:pPr>
            <a:r>
              <a:rPr lang="en-US" sz="1100" b="1" dirty="0">
                <a:solidFill>
                  <a:srgbClr val="FF6F00"/>
                </a:solidFill>
              </a:rPr>
              <a:t>Evaluation + App + Report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796B"/>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spc="300" kern="0" dirty="0">
                <a:solidFill>
                  <a:srgbClr val="FFFFFF"/>
                </a:solidFill>
              </a:rPr>
              <a:t>DATASET</a:t>
            </a:r>
            <a:endParaRPr lang="en-US" sz="1800" dirty="0"/>
          </a:p>
        </p:txBody>
      </p:sp>
      <p:sp>
        <p:nvSpPr>
          <p:cNvPr id="4" name="Shape 2"/>
          <p:cNvSpPr/>
          <p:nvPr/>
        </p:nvSpPr>
        <p:spPr>
          <a:xfrm>
            <a:off x="320040" y="868680"/>
            <a:ext cx="4114800" cy="137160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5" name="Shape 3"/>
          <p:cNvSpPr/>
          <p:nvPr/>
        </p:nvSpPr>
        <p:spPr>
          <a:xfrm>
            <a:off x="475488" y="987552"/>
            <a:ext cx="475488" cy="475488"/>
          </a:xfrm>
          <a:prstGeom prst="oval">
            <a:avLst/>
          </a:prstGeom>
          <a:solidFill>
            <a:srgbClr val="00796B"/>
          </a:solidFill>
          <a:ln/>
        </p:spPr>
      </p:sp>
      <p:pic>
        <p:nvPicPr>
          <p:cNvPr id="6" name="Image 0" descr="preencoded.png">    </p:cNvPr>
          <p:cNvPicPr>
            <a:picLocks noChangeAspect="1"/>
          </p:cNvPicPr>
          <p:nvPr/>
        </p:nvPicPr>
        <p:blipFill>
          <a:blip r:embed="rId1"/>
          <a:stretch>
            <a:fillRect/>
          </a:stretch>
        </p:blipFill>
        <p:spPr>
          <a:xfrm>
            <a:off x="512064" y="1024128"/>
            <a:ext cx="402336" cy="402336"/>
          </a:xfrm>
          <a:prstGeom prst="rect">
            <a:avLst/>
          </a:prstGeom>
        </p:spPr>
      </p:pic>
      <p:sp>
        <p:nvSpPr>
          <p:cNvPr id="7" name="Text 4"/>
          <p:cNvSpPr/>
          <p:nvPr/>
        </p:nvSpPr>
        <p:spPr>
          <a:xfrm>
            <a:off x="1078992" y="987552"/>
            <a:ext cx="3200400" cy="347472"/>
          </a:xfrm>
          <a:prstGeom prst="rect">
            <a:avLst/>
          </a:prstGeom>
          <a:noFill/>
          <a:ln/>
        </p:spPr>
        <p:txBody>
          <a:bodyPr wrap="square" lIns="0" tIns="0" rIns="0" bIns="0" rtlCol="0" anchor="ctr"/>
          <a:lstStyle/>
          <a:p>
            <a:pPr indent="0" marL="0">
              <a:buNone/>
            </a:pPr>
            <a:r>
              <a:rPr lang="en-US" sz="1300" b="1" dirty="0">
                <a:solidFill>
                  <a:srgbClr val="FFFFFF"/>
                </a:solidFill>
              </a:rPr>
              <a:t>Nutrition5k — Google Research</a:t>
            </a:r>
            <a:endParaRPr lang="en-US" sz="1300" dirty="0"/>
          </a:p>
        </p:txBody>
      </p:sp>
      <p:sp>
        <p:nvSpPr>
          <p:cNvPr id="8" name="Text 5"/>
          <p:cNvSpPr/>
          <p:nvPr/>
        </p:nvSpPr>
        <p:spPr>
          <a:xfrm>
            <a:off x="1078992" y="1353312"/>
            <a:ext cx="3200400" cy="256032"/>
          </a:xfrm>
          <a:prstGeom prst="rect">
            <a:avLst/>
          </a:prstGeom>
          <a:noFill/>
          <a:ln/>
        </p:spPr>
        <p:txBody>
          <a:bodyPr wrap="square" lIns="0" tIns="0" rIns="0" bIns="0" rtlCol="0" anchor="ctr"/>
          <a:lstStyle/>
          <a:p>
            <a:pPr indent="0" marL="0">
              <a:buNone/>
            </a:pPr>
            <a:r>
              <a:rPr lang="en-US" sz="1000" dirty="0">
                <a:solidFill>
                  <a:srgbClr val="4DB6AC"/>
                </a:solidFill>
              </a:rPr>
              <a:t>github.com/google-research-datasets/Nutrition5k</a:t>
            </a:r>
            <a:endParaRPr lang="en-US" sz="1000" dirty="0"/>
          </a:p>
        </p:txBody>
      </p:sp>
      <p:sp>
        <p:nvSpPr>
          <p:cNvPr id="9" name="Text 6"/>
          <p:cNvSpPr/>
          <p:nvPr/>
        </p:nvSpPr>
        <p:spPr>
          <a:xfrm>
            <a:off x="475488" y="1691640"/>
            <a:ext cx="3840480" cy="438912"/>
          </a:xfrm>
          <a:prstGeom prst="rect">
            <a:avLst/>
          </a:prstGeom>
          <a:noFill/>
          <a:ln/>
        </p:spPr>
        <p:txBody>
          <a:bodyPr wrap="square" rtlCol="0" anchor="ctr"/>
          <a:lstStyle/>
          <a:p>
            <a:pPr indent="0" marL="0">
              <a:buNone/>
            </a:pPr>
            <a:r>
              <a:rPr lang="en-US" sz="1100" dirty="0">
                <a:solidFill>
                  <a:srgbClr val="B0BEC5"/>
                </a:solidFill>
              </a:rPr>
              <a:t>Real-world overhead food photos · Calorie metadata per dish</a:t>
            </a:r>
            <a:endParaRPr lang="en-US" sz="1100" dirty="0"/>
          </a:p>
        </p:txBody>
      </p:sp>
      <p:sp>
        <p:nvSpPr>
          <p:cNvPr id="10" name="Shape 7"/>
          <p:cNvSpPr/>
          <p:nvPr/>
        </p:nvSpPr>
        <p:spPr>
          <a:xfrm>
            <a:off x="320040" y="2468880"/>
            <a:ext cx="1097280" cy="109728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11" name="Text 8"/>
          <p:cNvSpPr/>
          <p:nvPr/>
        </p:nvSpPr>
        <p:spPr>
          <a:xfrm>
            <a:off x="320040" y="2578608"/>
            <a:ext cx="1097280" cy="603504"/>
          </a:xfrm>
          <a:prstGeom prst="rect">
            <a:avLst/>
          </a:prstGeom>
          <a:noFill/>
          <a:ln/>
        </p:spPr>
        <p:txBody>
          <a:bodyPr wrap="square" lIns="0" tIns="0" rIns="0" bIns="0" rtlCol="0" anchor="b"/>
          <a:lstStyle/>
          <a:p>
            <a:pPr algn="ctr" indent="0" marL="0">
              <a:buNone/>
            </a:pPr>
            <a:r>
              <a:rPr lang="en-US" sz="2800" b="1" dirty="0">
                <a:solidFill>
                  <a:srgbClr val="FFFFFF"/>
                </a:solidFill>
              </a:rPr>
              <a:t>1,021</a:t>
            </a:r>
            <a:endParaRPr lang="en-US" sz="2800" dirty="0"/>
          </a:p>
        </p:txBody>
      </p:sp>
      <p:sp>
        <p:nvSpPr>
          <p:cNvPr id="12" name="Text 9"/>
          <p:cNvSpPr/>
          <p:nvPr/>
        </p:nvSpPr>
        <p:spPr>
          <a:xfrm>
            <a:off x="320040" y="3072384"/>
            <a:ext cx="1097280" cy="438912"/>
          </a:xfrm>
          <a:prstGeom prst="rect">
            <a:avLst/>
          </a:prstGeom>
          <a:noFill/>
          <a:ln/>
        </p:spPr>
        <p:txBody>
          <a:bodyPr wrap="square" lIns="0" tIns="0" rIns="0" bIns="0" rtlCol="0" anchor="t"/>
          <a:lstStyle/>
          <a:p>
            <a:pPr algn="ctr" indent="0" marL="0">
              <a:buNone/>
            </a:pPr>
            <a:r>
              <a:rPr lang="en-US" sz="1100" dirty="0">
                <a:solidFill>
                  <a:srgbClr val="FFFFFF"/>
                </a:solidFill>
              </a:rPr>
              <a:t>Total Images</a:t>
            </a:r>
            <a:endParaRPr lang="en-US" sz="1100" dirty="0"/>
          </a:p>
        </p:txBody>
      </p:sp>
      <p:sp>
        <p:nvSpPr>
          <p:cNvPr id="13" name="Shape 10"/>
          <p:cNvSpPr/>
          <p:nvPr/>
        </p:nvSpPr>
        <p:spPr>
          <a:xfrm>
            <a:off x="1508760" y="2468880"/>
            <a:ext cx="1097280" cy="1097280"/>
          </a:xfrm>
          <a:prstGeom prst="rect">
            <a:avLst/>
          </a:prstGeom>
          <a:solidFill>
            <a:srgbClr val="1A6B5F"/>
          </a:solidFill>
          <a:ln/>
          <a:effectLst>
            <a:outerShdw sx="100000" sy="100000" kx="0" ky="0" algn="bl" rotWithShape="0" blurRad="101600" dist="38100" dir="8100000">
              <a:srgbClr val="000000">
                <a:alpha val="12000"/>
              </a:srgbClr>
            </a:outerShdw>
          </a:effectLst>
        </p:spPr>
      </p:sp>
      <p:sp>
        <p:nvSpPr>
          <p:cNvPr id="14" name="Text 11"/>
          <p:cNvSpPr/>
          <p:nvPr/>
        </p:nvSpPr>
        <p:spPr>
          <a:xfrm>
            <a:off x="1508760" y="2578608"/>
            <a:ext cx="1097280" cy="603504"/>
          </a:xfrm>
          <a:prstGeom prst="rect">
            <a:avLst/>
          </a:prstGeom>
          <a:noFill/>
          <a:ln/>
        </p:spPr>
        <p:txBody>
          <a:bodyPr wrap="square" lIns="0" tIns="0" rIns="0" bIns="0" rtlCol="0" anchor="b"/>
          <a:lstStyle/>
          <a:p>
            <a:pPr algn="ctr" indent="0" marL="0">
              <a:buNone/>
            </a:pPr>
            <a:r>
              <a:rPr lang="en-US" sz="2800" b="1" dirty="0">
                <a:solidFill>
                  <a:srgbClr val="FFFFFF"/>
                </a:solidFill>
              </a:rPr>
              <a:t>712</a:t>
            </a:r>
            <a:endParaRPr lang="en-US" sz="2800" dirty="0"/>
          </a:p>
        </p:txBody>
      </p:sp>
      <p:sp>
        <p:nvSpPr>
          <p:cNvPr id="15" name="Text 12"/>
          <p:cNvSpPr/>
          <p:nvPr/>
        </p:nvSpPr>
        <p:spPr>
          <a:xfrm>
            <a:off x="1508760" y="3072384"/>
            <a:ext cx="1097280" cy="438912"/>
          </a:xfrm>
          <a:prstGeom prst="rect">
            <a:avLst/>
          </a:prstGeom>
          <a:noFill/>
          <a:ln/>
        </p:spPr>
        <p:txBody>
          <a:bodyPr wrap="square" lIns="0" tIns="0" rIns="0" bIns="0" rtlCol="0" anchor="t"/>
          <a:lstStyle/>
          <a:p>
            <a:pPr algn="ctr" indent="0" marL="0">
              <a:buNone/>
            </a:pPr>
            <a:r>
              <a:rPr lang="en-US" sz="1100" dirty="0">
                <a:solidFill>
                  <a:srgbClr val="FFFFFF"/>
                </a:solidFill>
              </a:rPr>
              <a:t>Training</a:t>
            </a:r>
            <a:endParaRPr lang="en-US" sz="1100" dirty="0"/>
          </a:p>
        </p:txBody>
      </p:sp>
      <p:sp>
        <p:nvSpPr>
          <p:cNvPr id="16" name="Shape 13"/>
          <p:cNvSpPr/>
          <p:nvPr/>
        </p:nvSpPr>
        <p:spPr>
          <a:xfrm>
            <a:off x="2697480" y="2468880"/>
            <a:ext cx="1097280" cy="109728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7" name="Text 14"/>
          <p:cNvSpPr/>
          <p:nvPr/>
        </p:nvSpPr>
        <p:spPr>
          <a:xfrm>
            <a:off x="2697480" y="2578608"/>
            <a:ext cx="1097280" cy="603504"/>
          </a:xfrm>
          <a:prstGeom prst="rect">
            <a:avLst/>
          </a:prstGeom>
          <a:noFill/>
          <a:ln/>
        </p:spPr>
        <p:txBody>
          <a:bodyPr wrap="square" lIns="0" tIns="0" rIns="0" bIns="0" rtlCol="0" anchor="b"/>
          <a:lstStyle/>
          <a:p>
            <a:pPr algn="ctr" indent="0" marL="0">
              <a:buNone/>
            </a:pPr>
            <a:r>
              <a:rPr lang="en-US" sz="2800" b="1" dirty="0">
                <a:solidFill>
                  <a:srgbClr val="FFFFFF"/>
                </a:solidFill>
              </a:rPr>
              <a:t>153</a:t>
            </a:r>
            <a:endParaRPr lang="en-US" sz="2800" dirty="0"/>
          </a:p>
        </p:txBody>
      </p:sp>
      <p:sp>
        <p:nvSpPr>
          <p:cNvPr id="18" name="Text 15"/>
          <p:cNvSpPr/>
          <p:nvPr/>
        </p:nvSpPr>
        <p:spPr>
          <a:xfrm>
            <a:off x="2697480" y="3072384"/>
            <a:ext cx="1097280" cy="438912"/>
          </a:xfrm>
          <a:prstGeom prst="rect">
            <a:avLst/>
          </a:prstGeom>
          <a:noFill/>
          <a:ln/>
        </p:spPr>
        <p:txBody>
          <a:bodyPr wrap="square" lIns="0" tIns="0" rIns="0" bIns="0" rtlCol="0" anchor="t"/>
          <a:lstStyle/>
          <a:p>
            <a:pPr algn="ctr" indent="0" marL="0">
              <a:buNone/>
            </a:pPr>
            <a:r>
              <a:rPr lang="en-US" sz="1100" dirty="0">
                <a:solidFill>
                  <a:srgbClr val="FFFFFF"/>
                </a:solidFill>
              </a:rPr>
              <a:t>Validation</a:t>
            </a:r>
            <a:endParaRPr lang="en-US" sz="1100" dirty="0"/>
          </a:p>
        </p:txBody>
      </p:sp>
      <p:sp>
        <p:nvSpPr>
          <p:cNvPr id="19" name="Shape 16"/>
          <p:cNvSpPr/>
          <p:nvPr/>
        </p:nvSpPr>
        <p:spPr>
          <a:xfrm>
            <a:off x="3886200" y="2468880"/>
            <a:ext cx="1097280" cy="109728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20" name="Text 17"/>
          <p:cNvSpPr/>
          <p:nvPr/>
        </p:nvSpPr>
        <p:spPr>
          <a:xfrm>
            <a:off x="3886200" y="2578608"/>
            <a:ext cx="1097280" cy="603504"/>
          </a:xfrm>
          <a:prstGeom prst="rect">
            <a:avLst/>
          </a:prstGeom>
          <a:noFill/>
          <a:ln/>
        </p:spPr>
        <p:txBody>
          <a:bodyPr wrap="square" lIns="0" tIns="0" rIns="0" bIns="0" rtlCol="0" anchor="b"/>
          <a:lstStyle/>
          <a:p>
            <a:pPr algn="ctr" indent="0" marL="0">
              <a:buNone/>
            </a:pPr>
            <a:r>
              <a:rPr lang="en-US" sz="2800" b="1" dirty="0">
                <a:solidFill>
                  <a:srgbClr val="FFFFFF"/>
                </a:solidFill>
              </a:rPr>
              <a:t>153</a:t>
            </a:r>
            <a:endParaRPr lang="en-US" sz="2800" dirty="0"/>
          </a:p>
        </p:txBody>
      </p:sp>
      <p:sp>
        <p:nvSpPr>
          <p:cNvPr id="21" name="Text 18"/>
          <p:cNvSpPr/>
          <p:nvPr/>
        </p:nvSpPr>
        <p:spPr>
          <a:xfrm>
            <a:off x="3886200" y="3072384"/>
            <a:ext cx="1097280" cy="438912"/>
          </a:xfrm>
          <a:prstGeom prst="rect">
            <a:avLst/>
          </a:prstGeom>
          <a:noFill/>
          <a:ln/>
        </p:spPr>
        <p:txBody>
          <a:bodyPr wrap="square" lIns="0" tIns="0" rIns="0" bIns="0" rtlCol="0" anchor="t"/>
          <a:lstStyle/>
          <a:p>
            <a:pPr algn="ctr" indent="0" marL="0">
              <a:buNone/>
            </a:pPr>
            <a:r>
              <a:rPr lang="en-US" sz="1100" dirty="0">
                <a:solidFill>
                  <a:srgbClr val="FFFFFF"/>
                </a:solidFill>
              </a:rPr>
              <a:t>Test Set</a:t>
            </a:r>
            <a:endParaRPr lang="en-US" sz="1100" dirty="0"/>
          </a:p>
        </p:txBody>
      </p:sp>
      <p:sp>
        <p:nvSpPr>
          <p:cNvPr id="22" name="Shape 19"/>
          <p:cNvSpPr/>
          <p:nvPr/>
        </p:nvSpPr>
        <p:spPr>
          <a:xfrm>
            <a:off x="5029200" y="868680"/>
            <a:ext cx="3794760" cy="384048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23" name="Shape 20"/>
          <p:cNvSpPr/>
          <p:nvPr/>
        </p:nvSpPr>
        <p:spPr>
          <a:xfrm>
            <a:off x="5166360" y="960120"/>
            <a:ext cx="457200" cy="457200"/>
          </a:xfrm>
          <a:prstGeom prst="oval">
            <a:avLst/>
          </a:prstGeom>
          <a:solidFill>
            <a:srgbClr val="FF6F00"/>
          </a:solidFill>
          <a:ln/>
        </p:spPr>
      </p:sp>
      <p:pic>
        <p:nvPicPr>
          <p:cNvPr id="24" name="Image 1" descr="preencoded.png">    </p:cNvPr>
          <p:cNvPicPr>
            <a:picLocks noChangeAspect="1"/>
          </p:cNvPicPr>
          <p:nvPr/>
        </p:nvPicPr>
        <p:blipFill>
          <a:blip r:embed="rId2"/>
          <a:stretch>
            <a:fillRect/>
          </a:stretch>
        </p:blipFill>
        <p:spPr>
          <a:xfrm>
            <a:off x="5193792" y="987552"/>
            <a:ext cx="402336" cy="402336"/>
          </a:xfrm>
          <a:prstGeom prst="rect">
            <a:avLst/>
          </a:prstGeom>
        </p:spPr>
      </p:pic>
      <p:sp>
        <p:nvSpPr>
          <p:cNvPr id="25" name="Text 21"/>
          <p:cNvSpPr/>
          <p:nvPr/>
        </p:nvSpPr>
        <p:spPr>
          <a:xfrm>
            <a:off x="5742432" y="969264"/>
            <a:ext cx="2926080" cy="347472"/>
          </a:xfrm>
          <a:prstGeom prst="rect">
            <a:avLst/>
          </a:prstGeom>
          <a:noFill/>
          <a:ln/>
        </p:spPr>
        <p:txBody>
          <a:bodyPr wrap="square" lIns="0" tIns="0" rIns="0" bIns="0" rtlCol="0" anchor="ctr"/>
          <a:lstStyle/>
          <a:p>
            <a:pPr indent="0" marL="0">
              <a:buNone/>
            </a:pPr>
            <a:r>
              <a:rPr lang="en-US" sz="1300" b="1" dirty="0">
                <a:solidFill>
                  <a:srgbClr val="FFFFFF"/>
                </a:solidFill>
              </a:rPr>
              <a:t>Preprocessing Steps</a:t>
            </a:r>
            <a:endParaRPr lang="en-US" sz="1300" dirty="0"/>
          </a:p>
        </p:txBody>
      </p:sp>
      <p:sp>
        <p:nvSpPr>
          <p:cNvPr id="26" name="Shape 22"/>
          <p:cNvSpPr/>
          <p:nvPr/>
        </p:nvSpPr>
        <p:spPr>
          <a:xfrm>
            <a:off x="5166360" y="1536192"/>
            <a:ext cx="201168" cy="201168"/>
          </a:xfrm>
          <a:prstGeom prst="oval">
            <a:avLst/>
          </a:prstGeom>
          <a:solidFill>
            <a:srgbClr val="00796B"/>
          </a:solidFill>
          <a:ln/>
        </p:spPr>
      </p:sp>
      <p:sp>
        <p:nvSpPr>
          <p:cNvPr id="27" name="Text 23"/>
          <p:cNvSpPr/>
          <p:nvPr/>
        </p:nvSpPr>
        <p:spPr>
          <a:xfrm>
            <a:off x="5468112" y="1481328"/>
            <a:ext cx="3200400" cy="256032"/>
          </a:xfrm>
          <a:prstGeom prst="rect">
            <a:avLst/>
          </a:prstGeom>
          <a:noFill/>
          <a:ln/>
        </p:spPr>
        <p:txBody>
          <a:bodyPr wrap="square" lIns="0" tIns="0" rIns="0" bIns="0" rtlCol="0" anchor="ctr"/>
          <a:lstStyle/>
          <a:p>
            <a:pPr indent="0" marL="0">
              <a:buNone/>
            </a:pPr>
            <a:r>
              <a:rPr lang="en-US" sz="1100" b="1" dirty="0">
                <a:solidFill>
                  <a:srgbClr val="FFFFFF"/>
                </a:solidFill>
              </a:rPr>
              <a:t>Metadata Linking</a:t>
            </a:r>
            <a:endParaRPr lang="en-US" sz="1100" dirty="0"/>
          </a:p>
        </p:txBody>
      </p:sp>
      <p:sp>
        <p:nvSpPr>
          <p:cNvPr id="28" name="Text 24"/>
          <p:cNvSpPr/>
          <p:nvPr/>
        </p:nvSpPr>
        <p:spPr>
          <a:xfrm>
            <a:off x="5468112" y="1728216"/>
            <a:ext cx="3200400" cy="219456"/>
          </a:xfrm>
          <a:prstGeom prst="rect">
            <a:avLst/>
          </a:prstGeom>
          <a:noFill/>
          <a:ln/>
        </p:spPr>
        <p:txBody>
          <a:bodyPr wrap="square" lIns="0" tIns="0" rIns="0" bIns="0" rtlCol="0" anchor="ctr"/>
          <a:lstStyle/>
          <a:p>
            <a:pPr indent="0" marL="0">
              <a:buNone/>
            </a:pPr>
            <a:r>
              <a:rPr lang="en-US" sz="1000" dirty="0">
                <a:solidFill>
                  <a:srgbClr val="B0BEC5"/>
                </a:solidFill>
              </a:rPr>
              <a:t>Dish ID joined to calorie CSV</a:t>
            </a:r>
            <a:endParaRPr lang="en-US" sz="1000" dirty="0"/>
          </a:p>
        </p:txBody>
      </p:sp>
      <p:sp>
        <p:nvSpPr>
          <p:cNvPr id="29" name="Shape 25"/>
          <p:cNvSpPr/>
          <p:nvPr/>
        </p:nvSpPr>
        <p:spPr>
          <a:xfrm>
            <a:off x="5166360" y="2039112"/>
            <a:ext cx="201168" cy="201168"/>
          </a:xfrm>
          <a:prstGeom prst="oval">
            <a:avLst/>
          </a:prstGeom>
          <a:solidFill>
            <a:srgbClr val="00796B"/>
          </a:solidFill>
          <a:ln/>
        </p:spPr>
      </p:sp>
      <p:sp>
        <p:nvSpPr>
          <p:cNvPr id="30" name="Text 26"/>
          <p:cNvSpPr/>
          <p:nvPr/>
        </p:nvSpPr>
        <p:spPr>
          <a:xfrm>
            <a:off x="5468112" y="1984248"/>
            <a:ext cx="3200400" cy="256032"/>
          </a:xfrm>
          <a:prstGeom prst="rect">
            <a:avLst/>
          </a:prstGeom>
          <a:noFill/>
          <a:ln/>
        </p:spPr>
        <p:txBody>
          <a:bodyPr wrap="square" lIns="0" tIns="0" rIns="0" bIns="0" rtlCol="0" anchor="ctr"/>
          <a:lstStyle/>
          <a:p>
            <a:pPr indent="0" marL="0">
              <a:buNone/>
            </a:pPr>
            <a:r>
              <a:rPr lang="en-US" sz="1100" b="1" dirty="0">
                <a:solidFill>
                  <a:srgbClr val="FFFFFF"/>
                </a:solidFill>
              </a:rPr>
              <a:t>Image Cleaning</a:t>
            </a:r>
            <a:endParaRPr lang="en-US" sz="1100" dirty="0"/>
          </a:p>
        </p:txBody>
      </p:sp>
      <p:sp>
        <p:nvSpPr>
          <p:cNvPr id="31" name="Text 27"/>
          <p:cNvSpPr/>
          <p:nvPr/>
        </p:nvSpPr>
        <p:spPr>
          <a:xfrm>
            <a:off x="5468112" y="2231136"/>
            <a:ext cx="3200400" cy="219456"/>
          </a:xfrm>
          <a:prstGeom prst="rect">
            <a:avLst/>
          </a:prstGeom>
          <a:noFill/>
          <a:ln/>
        </p:spPr>
        <p:txBody>
          <a:bodyPr wrap="square" lIns="0" tIns="0" rIns="0" bIns="0" rtlCol="0" anchor="ctr"/>
          <a:lstStyle/>
          <a:p>
            <a:pPr indent="0" marL="0">
              <a:buNone/>
            </a:pPr>
            <a:r>
              <a:rPr lang="en-US" sz="1000" dirty="0">
                <a:solidFill>
                  <a:srgbClr val="B0BEC5"/>
                </a:solidFill>
              </a:rPr>
              <a:t>PIL decode check — corrupted files removed</a:t>
            </a:r>
            <a:endParaRPr lang="en-US" sz="1000" dirty="0"/>
          </a:p>
        </p:txBody>
      </p:sp>
      <p:sp>
        <p:nvSpPr>
          <p:cNvPr id="32" name="Shape 28"/>
          <p:cNvSpPr/>
          <p:nvPr/>
        </p:nvSpPr>
        <p:spPr>
          <a:xfrm>
            <a:off x="5166360" y="2542032"/>
            <a:ext cx="201168" cy="201168"/>
          </a:xfrm>
          <a:prstGeom prst="oval">
            <a:avLst/>
          </a:prstGeom>
          <a:solidFill>
            <a:srgbClr val="00796B"/>
          </a:solidFill>
          <a:ln/>
        </p:spPr>
      </p:sp>
      <p:sp>
        <p:nvSpPr>
          <p:cNvPr id="33" name="Text 29"/>
          <p:cNvSpPr/>
          <p:nvPr/>
        </p:nvSpPr>
        <p:spPr>
          <a:xfrm>
            <a:off x="5468112" y="2487168"/>
            <a:ext cx="3200400" cy="256032"/>
          </a:xfrm>
          <a:prstGeom prst="rect">
            <a:avLst/>
          </a:prstGeom>
          <a:noFill/>
          <a:ln/>
        </p:spPr>
        <p:txBody>
          <a:bodyPr wrap="square" lIns="0" tIns="0" rIns="0" bIns="0" rtlCol="0" anchor="ctr"/>
          <a:lstStyle/>
          <a:p>
            <a:pPr indent="0" marL="0">
              <a:buNone/>
            </a:pPr>
            <a:r>
              <a:rPr lang="en-US" sz="1100" b="1" dirty="0">
                <a:solidFill>
                  <a:srgbClr val="FFFFFF"/>
                </a:solidFill>
              </a:rPr>
              <a:t>Resize</a:t>
            </a:r>
            <a:endParaRPr lang="en-US" sz="1100" dirty="0"/>
          </a:p>
        </p:txBody>
      </p:sp>
      <p:sp>
        <p:nvSpPr>
          <p:cNvPr id="34" name="Text 30"/>
          <p:cNvSpPr/>
          <p:nvPr/>
        </p:nvSpPr>
        <p:spPr>
          <a:xfrm>
            <a:off x="5468112" y="2734056"/>
            <a:ext cx="3200400" cy="219456"/>
          </a:xfrm>
          <a:prstGeom prst="rect">
            <a:avLst/>
          </a:prstGeom>
          <a:noFill/>
          <a:ln/>
        </p:spPr>
        <p:txBody>
          <a:bodyPr wrap="square" lIns="0" tIns="0" rIns="0" bIns="0" rtlCol="0" anchor="ctr"/>
          <a:lstStyle/>
          <a:p>
            <a:pPr indent="0" marL="0">
              <a:buNone/>
            </a:pPr>
            <a:r>
              <a:rPr lang="en-US" sz="1000" dirty="0">
                <a:solidFill>
                  <a:srgbClr val="B0BEC5"/>
                </a:solidFill>
              </a:rPr>
              <a:t>All images → 224 × 224 px (RGB)</a:t>
            </a:r>
            <a:endParaRPr lang="en-US" sz="1000" dirty="0"/>
          </a:p>
        </p:txBody>
      </p:sp>
      <p:sp>
        <p:nvSpPr>
          <p:cNvPr id="35" name="Shape 31"/>
          <p:cNvSpPr/>
          <p:nvPr/>
        </p:nvSpPr>
        <p:spPr>
          <a:xfrm>
            <a:off x="5166360" y="3044952"/>
            <a:ext cx="201168" cy="201168"/>
          </a:xfrm>
          <a:prstGeom prst="oval">
            <a:avLst/>
          </a:prstGeom>
          <a:solidFill>
            <a:srgbClr val="00796B"/>
          </a:solidFill>
          <a:ln/>
        </p:spPr>
      </p:sp>
      <p:sp>
        <p:nvSpPr>
          <p:cNvPr id="36" name="Text 32"/>
          <p:cNvSpPr/>
          <p:nvPr/>
        </p:nvSpPr>
        <p:spPr>
          <a:xfrm>
            <a:off x="5468112" y="2990088"/>
            <a:ext cx="3200400" cy="256032"/>
          </a:xfrm>
          <a:prstGeom prst="rect">
            <a:avLst/>
          </a:prstGeom>
          <a:noFill/>
          <a:ln/>
        </p:spPr>
        <p:txBody>
          <a:bodyPr wrap="square" lIns="0" tIns="0" rIns="0" bIns="0" rtlCol="0" anchor="ctr"/>
          <a:lstStyle/>
          <a:p>
            <a:pPr indent="0" marL="0">
              <a:buNone/>
            </a:pPr>
            <a:r>
              <a:rPr lang="en-US" sz="1100" b="1" dirty="0">
                <a:solidFill>
                  <a:srgbClr val="FFFFFF"/>
                </a:solidFill>
              </a:rPr>
              <a:t>Normalization</a:t>
            </a:r>
            <a:endParaRPr lang="en-US" sz="1100" dirty="0"/>
          </a:p>
        </p:txBody>
      </p:sp>
      <p:sp>
        <p:nvSpPr>
          <p:cNvPr id="37" name="Text 33"/>
          <p:cNvSpPr/>
          <p:nvPr/>
        </p:nvSpPr>
        <p:spPr>
          <a:xfrm>
            <a:off x="5468112" y="3236976"/>
            <a:ext cx="3200400" cy="219456"/>
          </a:xfrm>
          <a:prstGeom prst="rect">
            <a:avLst/>
          </a:prstGeom>
          <a:noFill/>
          <a:ln/>
        </p:spPr>
        <p:txBody>
          <a:bodyPr wrap="square" lIns="0" tIns="0" rIns="0" bIns="0" rtlCol="0" anchor="ctr"/>
          <a:lstStyle/>
          <a:p>
            <a:pPr indent="0" marL="0">
              <a:buNone/>
            </a:pPr>
            <a:r>
              <a:rPr lang="en-US" sz="1000" dirty="0">
                <a:solidFill>
                  <a:srgbClr val="B0BEC5"/>
                </a:solidFill>
              </a:rPr>
              <a:t>ImageNet mean/std applied</a:t>
            </a:r>
            <a:endParaRPr lang="en-US" sz="1000" dirty="0"/>
          </a:p>
        </p:txBody>
      </p:sp>
      <p:sp>
        <p:nvSpPr>
          <p:cNvPr id="38" name="Shape 34"/>
          <p:cNvSpPr/>
          <p:nvPr/>
        </p:nvSpPr>
        <p:spPr>
          <a:xfrm>
            <a:off x="5166360" y="3547872"/>
            <a:ext cx="201168" cy="201168"/>
          </a:xfrm>
          <a:prstGeom prst="oval">
            <a:avLst/>
          </a:prstGeom>
          <a:solidFill>
            <a:srgbClr val="00796B"/>
          </a:solidFill>
          <a:ln/>
        </p:spPr>
      </p:sp>
      <p:sp>
        <p:nvSpPr>
          <p:cNvPr id="39" name="Text 35"/>
          <p:cNvSpPr/>
          <p:nvPr/>
        </p:nvSpPr>
        <p:spPr>
          <a:xfrm>
            <a:off x="5468112" y="3493008"/>
            <a:ext cx="3200400" cy="256032"/>
          </a:xfrm>
          <a:prstGeom prst="rect">
            <a:avLst/>
          </a:prstGeom>
          <a:noFill/>
          <a:ln/>
        </p:spPr>
        <p:txBody>
          <a:bodyPr wrap="square" lIns="0" tIns="0" rIns="0" bIns="0" rtlCol="0" anchor="ctr"/>
          <a:lstStyle/>
          <a:p>
            <a:pPr indent="0" marL="0">
              <a:buNone/>
            </a:pPr>
            <a:r>
              <a:rPr lang="en-US" sz="1100" b="1" dirty="0">
                <a:solidFill>
                  <a:srgbClr val="FFFFFF"/>
                </a:solidFill>
              </a:rPr>
              <a:t>Augmentation</a:t>
            </a:r>
            <a:endParaRPr lang="en-US" sz="1100" dirty="0"/>
          </a:p>
        </p:txBody>
      </p:sp>
      <p:sp>
        <p:nvSpPr>
          <p:cNvPr id="40" name="Text 36"/>
          <p:cNvSpPr/>
          <p:nvPr/>
        </p:nvSpPr>
        <p:spPr>
          <a:xfrm>
            <a:off x="5468112" y="3739896"/>
            <a:ext cx="3200400" cy="219456"/>
          </a:xfrm>
          <a:prstGeom prst="rect">
            <a:avLst/>
          </a:prstGeom>
          <a:noFill/>
          <a:ln/>
        </p:spPr>
        <p:txBody>
          <a:bodyPr wrap="square" lIns="0" tIns="0" rIns="0" bIns="0" rtlCol="0" anchor="ctr"/>
          <a:lstStyle/>
          <a:p>
            <a:pPr indent="0" marL="0">
              <a:buNone/>
            </a:pPr>
            <a:r>
              <a:rPr lang="en-US" sz="1000" dirty="0">
                <a:solidFill>
                  <a:srgbClr val="B0BEC5"/>
                </a:solidFill>
              </a:rPr>
              <a:t>Flip · Rotation ±15° · Color jitter (train only)</a:t>
            </a:r>
            <a:endParaRPr lang="en-US" sz="1000" dirty="0"/>
          </a:p>
        </p:txBody>
      </p:sp>
      <p:sp>
        <p:nvSpPr>
          <p:cNvPr id="41" name="Shape 37"/>
          <p:cNvSpPr/>
          <p:nvPr/>
        </p:nvSpPr>
        <p:spPr>
          <a:xfrm>
            <a:off x="5166360" y="4050792"/>
            <a:ext cx="201168" cy="201168"/>
          </a:xfrm>
          <a:prstGeom prst="oval">
            <a:avLst/>
          </a:prstGeom>
          <a:solidFill>
            <a:srgbClr val="00796B"/>
          </a:solidFill>
          <a:ln/>
        </p:spPr>
      </p:sp>
      <p:sp>
        <p:nvSpPr>
          <p:cNvPr id="42" name="Text 38"/>
          <p:cNvSpPr/>
          <p:nvPr/>
        </p:nvSpPr>
        <p:spPr>
          <a:xfrm>
            <a:off x="5468112" y="3995928"/>
            <a:ext cx="3200400" cy="256032"/>
          </a:xfrm>
          <a:prstGeom prst="rect">
            <a:avLst/>
          </a:prstGeom>
          <a:noFill/>
          <a:ln/>
        </p:spPr>
        <p:txBody>
          <a:bodyPr wrap="square" lIns="0" tIns="0" rIns="0" bIns="0" rtlCol="0" anchor="ctr"/>
          <a:lstStyle/>
          <a:p>
            <a:pPr indent="0" marL="0">
              <a:buNone/>
            </a:pPr>
            <a:r>
              <a:rPr lang="en-US" sz="1100" b="1" dirty="0">
                <a:solidFill>
                  <a:srgbClr val="FFFFFF"/>
                </a:solidFill>
              </a:rPr>
              <a:t>Split</a:t>
            </a:r>
            <a:endParaRPr lang="en-US" sz="1100" dirty="0"/>
          </a:p>
        </p:txBody>
      </p:sp>
      <p:sp>
        <p:nvSpPr>
          <p:cNvPr id="43" name="Text 39"/>
          <p:cNvSpPr/>
          <p:nvPr/>
        </p:nvSpPr>
        <p:spPr>
          <a:xfrm>
            <a:off x="5468112" y="4242816"/>
            <a:ext cx="3200400" cy="219456"/>
          </a:xfrm>
          <a:prstGeom prst="rect">
            <a:avLst/>
          </a:prstGeom>
          <a:noFill/>
          <a:ln/>
        </p:spPr>
        <p:txBody>
          <a:bodyPr wrap="square" lIns="0" tIns="0" rIns="0" bIns="0" rtlCol="0" anchor="ctr"/>
          <a:lstStyle/>
          <a:p>
            <a:pPr indent="0" marL="0">
              <a:buNone/>
            </a:pPr>
            <a:r>
              <a:rPr lang="en-US" sz="1000" dirty="0">
                <a:solidFill>
                  <a:srgbClr val="B0BEC5"/>
                </a:solidFill>
              </a:rPr>
              <a:t>70 / 15 / 15  ·  SEED = 42</a:t>
            </a:r>
            <a:endParaRPr lang="en-US" sz="1000" dirty="0"/>
          </a:p>
        </p:txBody>
      </p:sp>
      <p:sp>
        <p:nvSpPr>
          <p:cNvPr id="44" name="Text 40"/>
          <p:cNvSpPr/>
          <p:nvPr/>
        </p:nvSpPr>
        <p:spPr>
          <a:xfrm>
            <a:off x="320040" y="4754880"/>
            <a:ext cx="8503920" cy="256032"/>
          </a:xfrm>
          <a:prstGeom prst="rect">
            <a:avLst/>
          </a:prstGeom>
          <a:noFill/>
          <a:ln/>
        </p:spPr>
        <p:txBody>
          <a:bodyPr wrap="square" rtlCol="0" anchor="ctr"/>
          <a:lstStyle/>
          <a:p>
            <a:pPr algn="ctr" indent="0" marL="0">
              <a:buNone/>
            </a:pPr>
            <a:r>
              <a:rPr lang="en-US" sz="1000" dirty="0">
                <a:solidFill>
                  <a:srgbClr val="B0BEC5"/>
                </a:solidFill>
              </a:rPr>
              <a:t>224 × 224 px  ·  RGB  ·  Target: Calories (kcal)  ·  No library datasets used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2D"/>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spc="200" kern="0" dirty="0">
                <a:solidFill>
                  <a:srgbClr val="FFFFFF"/>
                </a:solidFill>
              </a:rPr>
              <a:t>MODEL 1 — CNN FROM SCRATCH</a:t>
            </a:r>
            <a:endParaRPr lang="en-US" sz="1800" dirty="0"/>
          </a:p>
        </p:txBody>
      </p:sp>
      <p:sp>
        <p:nvSpPr>
          <p:cNvPr id="4" name="Shape 2"/>
          <p:cNvSpPr/>
          <p:nvPr/>
        </p:nvSpPr>
        <p:spPr>
          <a:xfrm>
            <a:off x="320040" y="914400"/>
            <a:ext cx="1188720" cy="1234440"/>
          </a:xfrm>
          <a:prstGeom prst="rect">
            <a:avLst/>
          </a:prstGeom>
          <a:solidFill>
            <a:srgbClr val="546E7A"/>
          </a:solidFill>
          <a:ln/>
          <a:effectLst>
            <a:outerShdw sx="100000" sy="100000" kx="0" ky="0" algn="bl" rotWithShape="0" blurRad="101600" dist="38100" dir="8100000">
              <a:srgbClr val="000000">
                <a:alpha val="12000"/>
              </a:srgbClr>
            </a:outerShdw>
          </a:effectLst>
        </p:spPr>
      </p:sp>
      <p:sp>
        <p:nvSpPr>
          <p:cNvPr id="5" name="Text 3"/>
          <p:cNvSpPr/>
          <p:nvPr/>
        </p:nvSpPr>
        <p:spPr>
          <a:xfrm>
            <a:off x="320040" y="914400"/>
            <a:ext cx="1188720" cy="1234440"/>
          </a:xfrm>
          <a:prstGeom prst="rect">
            <a:avLst/>
          </a:prstGeom>
          <a:noFill/>
          <a:ln/>
        </p:spPr>
        <p:txBody>
          <a:bodyPr wrap="square" lIns="50800" tIns="50800" rIns="50800" bIns="50800" rtlCol="0" anchor="ctr"/>
          <a:lstStyle/>
          <a:p>
            <a:pPr algn="ctr" indent="0" marL="0">
              <a:buNone/>
            </a:pPr>
            <a:r>
              <a:rPr lang="en-US" sz="950" b="1" dirty="0">
                <a:solidFill>
                  <a:srgbClr val="FFFFFF"/>
                </a:solidFill>
              </a:rPr>
              <a:t>INPUT</a:t>
            </a:r>
            <a:endParaRPr lang="en-US" sz="950" dirty="0"/>
          </a:p>
          <a:p>
            <a:pPr algn="ctr" indent="0" marL="0">
              <a:buNone/>
            </a:pPr>
            <a:r>
              <a:rPr lang="en-US" sz="950" b="1" dirty="0">
                <a:solidFill>
                  <a:srgbClr val="FFFFFF"/>
                </a:solidFill>
              </a:rPr>
              <a:t>224×224×3</a:t>
            </a:r>
            <a:endParaRPr lang="en-US" sz="950" dirty="0"/>
          </a:p>
        </p:txBody>
      </p:sp>
      <p:sp>
        <p:nvSpPr>
          <p:cNvPr id="6" name="Shape 4"/>
          <p:cNvSpPr/>
          <p:nvPr/>
        </p:nvSpPr>
        <p:spPr>
          <a:xfrm>
            <a:off x="1508760" y="1371600"/>
            <a:ext cx="164592" cy="54864"/>
          </a:xfrm>
          <a:prstGeom prst="rect">
            <a:avLst/>
          </a:prstGeom>
          <a:solidFill>
            <a:srgbClr val="B0BEC5"/>
          </a:solidFill>
          <a:ln/>
        </p:spPr>
      </p:sp>
      <p:sp>
        <p:nvSpPr>
          <p:cNvPr id="7" name="Shape 5"/>
          <p:cNvSpPr/>
          <p:nvPr/>
        </p:nvSpPr>
        <p:spPr>
          <a:xfrm>
            <a:off x="1599286" y="1316736"/>
            <a:ext cx="9144" cy="164592"/>
          </a:xfrm>
          <a:prstGeom prst="rect">
            <a:avLst/>
          </a:prstGeom>
          <a:solidFill>
            <a:srgbClr val="B0BEC5"/>
          </a:solidFill>
          <a:ln/>
        </p:spPr>
      </p:sp>
      <p:sp>
        <p:nvSpPr>
          <p:cNvPr id="8" name="Shape 6"/>
          <p:cNvSpPr/>
          <p:nvPr/>
        </p:nvSpPr>
        <p:spPr>
          <a:xfrm>
            <a:off x="1673352" y="914400"/>
            <a:ext cx="1188720" cy="123444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9" name="Text 7"/>
          <p:cNvSpPr/>
          <p:nvPr/>
        </p:nvSpPr>
        <p:spPr>
          <a:xfrm>
            <a:off x="1673352" y="914400"/>
            <a:ext cx="1188720" cy="1234440"/>
          </a:xfrm>
          <a:prstGeom prst="rect">
            <a:avLst/>
          </a:prstGeom>
          <a:noFill/>
          <a:ln/>
        </p:spPr>
        <p:txBody>
          <a:bodyPr wrap="square" lIns="50800" tIns="50800" rIns="50800" bIns="50800" rtlCol="0" anchor="ctr"/>
          <a:lstStyle/>
          <a:p>
            <a:pPr algn="ctr" indent="0" marL="0">
              <a:buNone/>
            </a:pPr>
            <a:r>
              <a:rPr lang="en-US" sz="950" b="1" dirty="0">
                <a:solidFill>
                  <a:srgbClr val="FFFFFF"/>
                </a:solidFill>
              </a:rPr>
              <a:t>BLOCK 1</a:t>
            </a:r>
            <a:endParaRPr lang="en-US" sz="950" dirty="0"/>
          </a:p>
          <a:p>
            <a:pPr algn="ctr" indent="0" marL="0">
              <a:buNone/>
            </a:pPr>
            <a:r>
              <a:rPr lang="en-US" sz="950" b="1" dirty="0">
                <a:solidFill>
                  <a:srgbClr val="FFFFFF"/>
                </a:solidFill>
              </a:rPr>
              <a:t>Conv+BN+ReLU+Pool</a:t>
            </a:r>
            <a:endParaRPr lang="en-US" sz="950" dirty="0"/>
          </a:p>
          <a:p>
            <a:pPr algn="ctr" indent="0" marL="0">
              <a:buNone/>
            </a:pPr>
            <a:r>
              <a:rPr lang="en-US" sz="950" b="1" dirty="0">
                <a:solidFill>
                  <a:srgbClr val="FFFFFF"/>
                </a:solidFill>
              </a:rPr>
              <a:t>32 filters</a:t>
            </a:r>
            <a:endParaRPr lang="en-US" sz="950" dirty="0"/>
          </a:p>
        </p:txBody>
      </p:sp>
      <p:sp>
        <p:nvSpPr>
          <p:cNvPr id="10" name="Shape 8"/>
          <p:cNvSpPr/>
          <p:nvPr/>
        </p:nvSpPr>
        <p:spPr>
          <a:xfrm>
            <a:off x="2862072" y="1371600"/>
            <a:ext cx="164592" cy="54864"/>
          </a:xfrm>
          <a:prstGeom prst="rect">
            <a:avLst/>
          </a:prstGeom>
          <a:solidFill>
            <a:srgbClr val="B0BEC5"/>
          </a:solidFill>
          <a:ln/>
        </p:spPr>
      </p:sp>
      <p:sp>
        <p:nvSpPr>
          <p:cNvPr id="11" name="Shape 9"/>
          <p:cNvSpPr/>
          <p:nvPr/>
        </p:nvSpPr>
        <p:spPr>
          <a:xfrm>
            <a:off x="2952598" y="1316736"/>
            <a:ext cx="9144" cy="164592"/>
          </a:xfrm>
          <a:prstGeom prst="rect">
            <a:avLst/>
          </a:prstGeom>
          <a:solidFill>
            <a:srgbClr val="B0BEC5"/>
          </a:solidFill>
          <a:ln/>
        </p:spPr>
      </p:sp>
      <p:sp>
        <p:nvSpPr>
          <p:cNvPr id="12" name="Shape 10"/>
          <p:cNvSpPr/>
          <p:nvPr/>
        </p:nvSpPr>
        <p:spPr>
          <a:xfrm>
            <a:off x="3026664" y="914400"/>
            <a:ext cx="1188720" cy="123444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13" name="Text 11"/>
          <p:cNvSpPr/>
          <p:nvPr/>
        </p:nvSpPr>
        <p:spPr>
          <a:xfrm>
            <a:off x="3026664" y="914400"/>
            <a:ext cx="1188720" cy="1234440"/>
          </a:xfrm>
          <a:prstGeom prst="rect">
            <a:avLst/>
          </a:prstGeom>
          <a:noFill/>
          <a:ln/>
        </p:spPr>
        <p:txBody>
          <a:bodyPr wrap="square" lIns="50800" tIns="50800" rIns="50800" bIns="50800" rtlCol="0" anchor="ctr"/>
          <a:lstStyle/>
          <a:p>
            <a:pPr algn="ctr" indent="0" marL="0">
              <a:buNone/>
            </a:pPr>
            <a:r>
              <a:rPr lang="en-US" sz="950" b="1" dirty="0">
                <a:solidFill>
                  <a:srgbClr val="FFFFFF"/>
                </a:solidFill>
              </a:rPr>
              <a:t>BLOCK 2</a:t>
            </a:r>
            <a:endParaRPr lang="en-US" sz="950" dirty="0"/>
          </a:p>
          <a:p>
            <a:pPr algn="ctr" indent="0" marL="0">
              <a:buNone/>
            </a:pPr>
            <a:r>
              <a:rPr lang="en-US" sz="950" b="1" dirty="0">
                <a:solidFill>
                  <a:srgbClr val="FFFFFF"/>
                </a:solidFill>
              </a:rPr>
              <a:t>Conv+BN+ReLU+Pool</a:t>
            </a:r>
            <a:endParaRPr lang="en-US" sz="950" dirty="0"/>
          </a:p>
          <a:p>
            <a:pPr algn="ctr" indent="0" marL="0">
              <a:buNone/>
            </a:pPr>
            <a:r>
              <a:rPr lang="en-US" sz="950" b="1" dirty="0">
                <a:solidFill>
                  <a:srgbClr val="FFFFFF"/>
                </a:solidFill>
              </a:rPr>
              <a:t>64 filters</a:t>
            </a:r>
            <a:endParaRPr lang="en-US" sz="950" dirty="0"/>
          </a:p>
        </p:txBody>
      </p:sp>
      <p:sp>
        <p:nvSpPr>
          <p:cNvPr id="14" name="Shape 12"/>
          <p:cNvSpPr/>
          <p:nvPr/>
        </p:nvSpPr>
        <p:spPr>
          <a:xfrm>
            <a:off x="4215384" y="1371600"/>
            <a:ext cx="164592" cy="54864"/>
          </a:xfrm>
          <a:prstGeom prst="rect">
            <a:avLst/>
          </a:prstGeom>
          <a:solidFill>
            <a:srgbClr val="B0BEC5"/>
          </a:solidFill>
          <a:ln/>
        </p:spPr>
      </p:sp>
      <p:sp>
        <p:nvSpPr>
          <p:cNvPr id="15" name="Shape 13"/>
          <p:cNvSpPr/>
          <p:nvPr/>
        </p:nvSpPr>
        <p:spPr>
          <a:xfrm>
            <a:off x="4305910" y="1316736"/>
            <a:ext cx="9144" cy="164592"/>
          </a:xfrm>
          <a:prstGeom prst="rect">
            <a:avLst/>
          </a:prstGeom>
          <a:solidFill>
            <a:srgbClr val="B0BEC5"/>
          </a:solidFill>
          <a:ln/>
        </p:spPr>
      </p:sp>
      <p:sp>
        <p:nvSpPr>
          <p:cNvPr id="16" name="Shape 14"/>
          <p:cNvSpPr/>
          <p:nvPr/>
        </p:nvSpPr>
        <p:spPr>
          <a:xfrm>
            <a:off x="4379976" y="914400"/>
            <a:ext cx="1188720" cy="1234440"/>
          </a:xfrm>
          <a:prstGeom prst="rect">
            <a:avLst/>
          </a:prstGeom>
          <a:solidFill>
            <a:srgbClr val="1A6B5F"/>
          </a:solidFill>
          <a:ln/>
          <a:effectLst>
            <a:outerShdw sx="100000" sy="100000" kx="0" ky="0" algn="bl" rotWithShape="0" blurRad="101600" dist="38100" dir="8100000">
              <a:srgbClr val="000000">
                <a:alpha val="12000"/>
              </a:srgbClr>
            </a:outerShdw>
          </a:effectLst>
        </p:spPr>
      </p:sp>
      <p:sp>
        <p:nvSpPr>
          <p:cNvPr id="17" name="Text 15"/>
          <p:cNvSpPr/>
          <p:nvPr/>
        </p:nvSpPr>
        <p:spPr>
          <a:xfrm>
            <a:off x="4379976" y="914400"/>
            <a:ext cx="1188720" cy="1234440"/>
          </a:xfrm>
          <a:prstGeom prst="rect">
            <a:avLst/>
          </a:prstGeom>
          <a:noFill/>
          <a:ln/>
        </p:spPr>
        <p:txBody>
          <a:bodyPr wrap="square" lIns="50800" tIns="50800" rIns="50800" bIns="50800" rtlCol="0" anchor="ctr"/>
          <a:lstStyle/>
          <a:p>
            <a:pPr algn="ctr" indent="0" marL="0">
              <a:buNone/>
            </a:pPr>
            <a:r>
              <a:rPr lang="en-US" sz="950" b="1" dirty="0">
                <a:solidFill>
                  <a:srgbClr val="FFFFFF"/>
                </a:solidFill>
              </a:rPr>
              <a:t>BLOCK 3</a:t>
            </a:r>
            <a:endParaRPr lang="en-US" sz="950" dirty="0"/>
          </a:p>
          <a:p>
            <a:pPr algn="ctr" indent="0" marL="0">
              <a:buNone/>
            </a:pPr>
            <a:r>
              <a:rPr lang="en-US" sz="950" b="1" dirty="0">
                <a:solidFill>
                  <a:srgbClr val="FFFFFF"/>
                </a:solidFill>
              </a:rPr>
              <a:t>Conv+BN+ReLU+Pool</a:t>
            </a:r>
            <a:endParaRPr lang="en-US" sz="950" dirty="0"/>
          </a:p>
          <a:p>
            <a:pPr algn="ctr" indent="0" marL="0">
              <a:buNone/>
            </a:pPr>
            <a:r>
              <a:rPr lang="en-US" sz="950" b="1" dirty="0">
                <a:solidFill>
                  <a:srgbClr val="FFFFFF"/>
                </a:solidFill>
              </a:rPr>
              <a:t>128 filters</a:t>
            </a:r>
            <a:endParaRPr lang="en-US" sz="950" dirty="0"/>
          </a:p>
        </p:txBody>
      </p:sp>
      <p:sp>
        <p:nvSpPr>
          <p:cNvPr id="18" name="Shape 16"/>
          <p:cNvSpPr/>
          <p:nvPr/>
        </p:nvSpPr>
        <p:spPr>
          <a:xfrm>
            <a:off x="5568696" y="1371600"/>
            <a:ext cx="164592" cy="54864"/>
          </a:xfrm>
          <a:prstGeom prst="rect">
            <a:avLst/>
          </a:prstGeom>
          <a:solidFill>
            <a:srgbClr val="B0BEC5"/>
          </a:solidFill>
          <a:ln/>
        </p:spPr>
      </p:sp>
      <p:sp>
        <p:nvSpPr>
          <p:cNvPr id="19" name="Shape 17"/>
          <p:cNvSpPr/>
          <p:nvPr/>
        </p:nvSpPr>
        <p:spPr>
          <a:xfrm>
            <a:off x="5659222" y="1316736"/>
            <a:ext cx="9144" cy="164592"/>
          </a:xfrm>
          <a:prstGeom prst="rect">
            <a:avLst/>
          </a:prstGeom>
          <a:solidFill>
            <a:srgbClr val="B0BEC5"/>
          </a:solidFill>
          <a:ln/>
        </p:spPr>
      </p:sp>
      <p:sp>
        <p:nvSpPr>
          <p:cNvPr id="20" name="Shape 18"/>
          <p:cNvSpPr/>
          <p:nvPr/>
        </p:nvSpPr>
        <p:spPr>
          <a:xfrm>
            <a:off x="5733288" y="914400"/>
            <a:ext cx="1188720" cy="1234440"/>
          </a:xfrm>
          <a:prstGeom prst="rect">
            <a:avLst/>
          </a:prstGeom>
          <a:solidFill>
            <a:srgbClr val="135C52"/>
          </a:solidFill>
          <a:ln/>
          <a:effectLst>
            <a:outerShdw sx="100000" sy="100000" kx="0" ky="0" algn="bl" rotWithShape="0" blurRad="101600" dist="38100" dir="8100000">
              <a:srgbClr val="000000">
                <a:alpha val="12000"/>
              </a:srgbClr>
            </a:outerShdw>
          </a:effectLst>
        </p:spPr>
      </p:sp>
      <p:sp>
        <p:nvSpPr>
          <p:cNvPr id="21" name="Text 19"/>
          <p:cNvSpPr/>
          <p:nvPr/>
        </p:nvSpPr>
        <p:spPr>
          <a:xfrm>
            <a:off x="5733288" y="914400"/>
            <a:ext cx="1188720" cy="1234440"/>
          </a:xfrm>
          <a:prstGeom prst="rect">
            <a:avLst/>
          </a:prstGeom>
          <a:noFill/>
          <a:ln/>
        </p:spPr>
        <p:txBody>
          <a:bodyPr wrap="square" lIns="50800" tIns="50800" rIns="50800" bIns="50800" rtlCol="0" anchor="ctr"/>
          <a:lstStyle/>
          <a:p>
            <a:pPr algn="ctr" indent="0" marL="0">
              <a:buNone/>
            </a:pPr>
            <a:r>
              <a:rPr lang="en-US" sz="950" b="1" dirty="0">
                <a:solidFill>
                  <a:srgbClr val="FFFFFF"/>
                </a:solidFill>
              </a:rPr>
              <a:t>BLOCK 4</a:t>
            </a:r>
            <a:endParaRPr lang="en-US" sz="950" dirty="0"/>
          </a:p>
          <a:p>
            <a:pPr algn="ctr" indent="0" marL="0">
              <a:buNone/>
            </a:pPr>
            <a:r>
              <a:rPr lang="en-US" sz="950" b="1" dirty="0">
                <a:solidFill>
                  <a:srgbClr val="FFFFFF"/>
                </a:solidFill>
              </a:rPr>
              <a:t>Conv+BN+ReLU+Pool</a:t>
            </a:r>
            <a:endParaRPr lang="en-US" sz="950" dirty="0"/>
          </a:p>
          <a:p>
            <a:pPr algn="ctr" indent="0" marL="0">
              <a:buNone/>
            </a:pPr>
            <a:r>
              <a:rPr lang="en-US" sz="950" b="1" dirty="0">
                <a:solidFill>
                  <a:srgbClr val="FFFFFF"/>
                </a:solidFill>
              </a:rPr>
              <a:t>256 filters</a:t>
            </a:r>
            <a:endParaRPr lang="en-US" sz="950" dirty="0"/>
          </a:p>
        </p:txBody>
      </p:sp>
      <p:sp>
        <p:nvSpPr>
          <p:cNvPr id="22" name="Shape 20"/>
          <p:cNvSpPr/>
          <p:nvPr/>
        </p:nvSpPr>
        <p:spPr>
          <a:xfrm>
            <a:off x="6922008" y="1371600"/>
            <a:ext cx="164592" cy="54864"/>
          </a:xfrm>
          <a:prstGeom prst="rect">
            <a:avLst/>
          </a:prstGeom>
          <a:solidFill>
            <a:srgbClr val="B0BEC5"/>
          </a:solidFill>
          <a:ln/>
        </p:spPr>
      </p:sp>
      <p:sp>
        <p:nvSpPr>
          <p:cNvPr id="23" name="Shape 21"/>
          <p:cNvSpPr/>
          <p:nvPr/>
        </p:nvSpPr>
        <p:spPr>
          <a:xfrm>
            <a:off x="7012534" y="1316736"/>
            <a:ext cx="9144" cy="164592"/>
          </a:xfrm>
          <a:prstGeom prst="rect">
            <a:avLst/>
          </a:prstGeom>
          <a:solidFill>
            <a:srgbClr val="B0BEC5"/>
          </a:solidFill>
          <a:ln/>
        </p:spPr>
      </p:sp>
      <p:sp>
        <p:nvSpPr>
          <p:cNvPr id="24" name="Shape 22"/>
          <p:cNvSpPr/>
          <p:nvPr/>
        </p:nvSpPr>
        <p:spPr>
          <a:xfrm>
            <a:off x="7086600" y="914400"/>
            <a:ext cx="1188720" cy="1234440"/>
          </a:xfrm>
          <a:prstGeom prst="rect">
            <a:avLst/>
          </a:prstGeom>
          <a:solidFill>
            <a:srgbClr val="FF6F00"/>
          </a:solidFill>
          <a:ln/>
          <a:effectLst>
            <a:outerShdw sx="100000" sy="100000" kx="0" ky="0" algn="bl" rotWithShape="0" blurRad="101600" dist="38100" dir="8100000">
              <a:srgbClr val="000000">
                <a:alpha val="12000"/>
              </a:srgbClr>
            </a:outerShdw>
          </a:effectLst>
        </p:spPr>
      </p:sp>
      <p:sp>
        <p:nvSpPr>
          <p:cNvPr id="25" name="Text 23"/>
          <p:cNvSpPr/>
          <p:nvPr/>
        </p:nvSpPr>
        <p:spPr>
          <a:xfrm>
            <a:off x="7086600" y="914400"/>
            <a:ext cx="1188720" cy="1234440"/>
          </a:xfrm>
          <a:prstGeom prst="rect">
            <a:avLst/>
          </a:prstGeom>
          <a:noFill/>
          <a:ln/>
        </p:spPr>
        <p:txBody>
          <a:bodyPr wrap="square" lIns="50800" tIns="50800" rIns="50800" bIns="50800" rtlCol="0" anchor="ctr"/>
          <a:lstStyle/>
          <a:p>
            <a:pPr algn="ctr" indent="0" marL="0">
              <a:buNone/>
            </a:pPr>
            <a:r>
              <a:rPr lang="en-US" sz="950" b="1" dirty="0">
                <a:solidFill>
                  <a:srgbClr val="FFFFFF"/>
                </a:solidFill>
              </a:rPr>
              <a:t>FC HEAD</a:t>
            </a:r>
            <a:endParaRPr lang="en-US" sz="950" dirty="0"/>
          </a:p>
          <a:p>
            <a:pPr algn="ctr" indent="0" marL="0">
              <a:buNone/>
            </a:pPr>
            <a:r>
              <a:rPr lang="en-US" sz="950" b="1" dirty="0">
                <a:solidFill>
                  <a:srgbClr val="FFFFFF"/>
                </a:solidFill>
              </a:rPr>
              <a:t>Dense·Drop·Dense</a:t>
            </a:r>
            <a:endParaRPr lang="en-US" sz="950" dirty="0"/>
          </a:p>
          <a:p>
            <a:pPr algn="ctr" indent="0" marL="0">
              <a:buNone/>
            </a:pPr>
            <a:r>
              <a:rPr lang="en-US" sz="950" b="1" dirty="0">
                <a:solidFill>
                  <a:srgbClr val="FFFFFF"/>
                </a:solidFill>
              </a:rPr>
              <a:t>→ 1 (kcal)</a:t>
            </a:r>
            <a:endParaRPr lang="en-US" sz="950" dirty="0"/>
          </a:p>
        </p:txBody>
      </p:sp>
      <p:sp>
        <p:nvSpPr>
          <p:cNvPr id="26" name="Text 24"/>
          <p:cNvSpPr/>
          <p:nvPr/>
        </p:nvSpPr>
        <p:spPr>
          <a:xfrm>
            <a:off x="320040" y="2212848"/>
            <a:ext cx="1188720" cy="256032"/>
          </a:xfrm>
          <a:prstGeom prst="rect">
            <a:avLst/>
          </a:prstGeom>
          <a:noFill/>
          <a:ln/>
        </p:spPr>
        <p:txBody>
          <a:bodyPr wrap="square" lIns="0" tIns="0" rIns="0" bIns="0" rtlCol="0" anchor="ctr"/>
          <a:lstStyle/>
          <a:p>
            <a:pPr algn="ctr" indent="0" marL="0">
              <a:buNone/>
            </a:pPr>
            <a:r>
              <a:rPr lang="en-US" sz="900" dirty="0">
                <a:solidFill>
                  <a:srgbClr val="546E7A"/>
                </a:solidFill>
              </a:rPr>
              <a:t>224×224×3</a:t>
            </a:r>
            <a:endParaRPr lang="en-US" sz="900" dirty="0"/>
          </a:p>
        </p:txBody>
      </p:sp>
      <p:sp>
        <p:nvSpPr>
          <p:cNvPr id="27" name="Text 25"/>
          <p:cNvSpPr/>
          <p:nvPr/>
        </p:nvSpPr>
        <p:spPr>
          <a:xfrm>
            <a:off x="1673352" y="2212848"/>
            <a:ext cx="1188720" cy="256032"/>
          </a:xfrm>
          <a:prstGeom prst="rect">
            <a:avLst/>
          </a:prstGeom>
          <a:noFill/>
          <a:ln/>
        </p:spPr>
        <p:txBody>
          <a:bodyPr wrap="square" lIns="0" tIns="0" rIns="0" bIns="0" rtlCol="0" anchor="ctr"/>
          <a:lstStyle/>
          <a:p>
            <a:pPr algn="ctr" indent="0" marL="0">
              <a:buNone/>
            </a:pPr>
            <a:r>
              <a:rPr lang="en-US" sz="900" dirty="0">
                <a:solidFill>
                  <a:srgbClr val="546E7A"/>
                </a:solidFill>
              </a:rPr>
              <a:t>112×112×32</a:t>
            </a:r>
            <a:endParaRPr lang="en-US" sz="900" dirty="0"/>
          </a:p>
        </p:txBody>
      </p:sp>
      <p:sp>
        <p:nvSpPr>
          <p:cNvPr id="28" name="Text 26"/>
          <p:cNvSpPr/>
          <p:nvPr/>
        </p:nvSpPr>
        <p:spPr>
          <a:xfrm>
            <a:off x="3026664" y="2212848"/>
            <a:ext cx="1188720" cy="256032"/>
          </a:xfrm>
          <a:prstGeom prst="rect">
            <a:avLst/>
          </a:prstGeom>
          <a:noFill/>
          <a:ln/>
        </p:spPr>
        <p:txBody>
          <a:bodyPr wrap="square" lIns="0" tIns="0" rIns="0" bIns="0" rtlCol="0" anchor="ctr"/>
          <a:lstStyle/>
          <a:p>
            <a:pPr algn="ctr" indent="0" marL="0">
              <a:buNone/>
            </a:pPr>
            <a:r>
              <a:rPr lang="en-US" sz="900" dirty="0">
                <a:solidFill>
                  <a:srgbClr val="546E7A"/>
                </a:solidFill>
              </a:rPr>
              <a:t>56×56×64</a:t>
            </a:r>
            <a:endParaRPr lang="en-US" sz="900" dirty="0"/>
          </a:p>
        </p:txBody>
      </p:sp>
      <p:sp>
        <p:nvSpPr>
          <p:cNvPr id="29" name="Text 27"/>
          <p:cNvSpPr/>
          <p:nvPr/>
        </p:nvSpPr>
        <p:spPr>
          <a:xfrm>
            <a:off x="4379976" y="2212848"/>
            <a:ext cx="1188720" cy="256032"/>
          </a:xfrm>
          <a:prstGeom prst="rect">
            <a:avLst/>
          </a:prstGeom>
          <a:noFill/>
          <a:ln/>
        </p:spPr>
        <p:txBody>
          <a:bodyPr wrap="square" lIns="0" tIns="0" rIns="0" bIns="0" rtlCol="0" anchor="ctr"/>
          <a:lstStyle/>
          <a:p>
            <a:pPr algn="ctr" indent="0" marL="0">
              <a:buNone/>
            </a:pPr>
            <a:r>
              <a:rPr lang="en-US" sz="900" dirty="0">
                <a:solidFill>
                  <a:srgbClr val="546E7A"/>
                </a:solidFill>
              </a:rPr>
              <a:t>28×28×128</a:t>
            </a:r>
            <a:endParaRPr lang="en-US" sz="900" dirty="0"/>
          </a:p>
        </p:txBody>
      </p:sp>
      <p:sp>
        <p:nvSpPr>
          <p:cNvPr id="30" name="Text 28"/>
          <p:cNvSpPr/>
          <p:nvPr/>
        </p:nvSpPr>
        <p:spPr>
          <a:xfrm>
            <a:off x="5733288" y="2212848"/>
            <a:ext cx="1188720" cy="256032"/>
          </a:xfrm>
          <a:prstGeom prst="rect">
            <a:avLst/>
          </a:prstGeom>
          <a:noFill/>
          <a:ln/>
        </p:spPr>
        <p:txBody>
          <a:bodyPr wrap="square" lIns="0" tIns="0" rIns="0" bIns="0" rtlCol="0" anchor="ctr"/>
          <a:lstStyle/>
          <a:p>
            <a:pPr algn="ctr" indent="0" marL="0">
              <a:buNone/>
            </a:pPr>
            <a:r>
              <a:rPr lang="en-US" sz="900" dirty="0">
                <a:solidFill>
                  <a:srgbClr val="546E7A"/>
                </a:solidFill>
              </a:rPr>
              <a:t>14×14×256</a:t>
            </a:r>
            <a:endParaRPr lang="en-US" sz="900" dirty="0"/>
          </a:p>
        </p:txBody>
      </p:sp>
      <p:sp>
        <p:nvSpPr>
          <p:cNvPr id="31" name="Text 29"/>
          <p:cNvSpPr/>
          <p:nvPr/>
        </p:nvSpPr>
        <p:spPr>
          <a:xfrm>
            <a:off x="7086600" y="2212848"/>
            <a:ext cx="1188720" cy="256032"/>
          </a:xfrm>
          <a:prstGeom prst="rect">
            <a:avLst/>
          </a:prstGeom>
          <a:noFill/>
          <a:ln/>
        </p:spPr>
        <p:txBody>
          <a:bodyPr wrap="square" lIns="0" tIns="0" rIns="0" bIns="0" rtlCol="0" anchor="ctr"/>
          <a:lstStyle/>
          <a:p>
            <a:pPr algn="ctr" indent="0" marL="0">
              <a:buNone/>
            </a:pPr>
            <a:r>
              <a:rPr lang="en-US" sz="900" dirty="0">
                <a:solidFill>
                  <a:srgbClr val="546E7A"/>
                </a:solidFill>
              </a:rPr>
              <a:t>1 kcal</a:t>
            </a:r>
            <a:endParaRPr lang="en-US" sz="900" dirty="0"/>
          </a:p>
        </p:txBody>
      </p:sp>
      <p:sp>
        <p:nvSpPr>
          <p:cNvPr id="32" name="Shape 30"/>
          <p:cNvSpPr/>
          <p:nvPr/>
        </p:nvSpPr>
        <p:spPr>
          <a:xfrm>
            <a:off x="320040" y="2633472"/>
            <a:ext cx="1600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3" name="Shape 31"/>
          <p:cNvSpPr/>
          <p:nvPr/>
        </p:nvSpPr>
        <p:spPr>
          <a:xfrm>
            <a:off x="320040" y="2633472"/>
            <a:ext cx="1600200" cy="54864"/>
          </a:xfrm>
          <a:prstGeom prst="rect">
            <a:avLst/>
          </a:prstGeom>
          <a:solidFill>
            <a:srgbClr val="00796B"/>
          </a:solidFill>
          <a:ln/>
        </p:spPr>
      </p:sp>
      <p:sp>
        <p:nvSpPr>
          <p:cNvPr id="34" name="Text 32"/>
          <p:cNvSpPr/>
          <p:nvPr/>
        </p:nvSpPr>
        <p:spPr>
          <a:xfrm>
            <a:off x="320040" y="2724912"/>
            <a:ext cx="1600200" cy="274320"/>
          </a:xfrm>
          <a:prstGeom prst="rect">
            <a:avLst/>
          </a:prstGeom>
          <a:noFill/>
          <a:ln/>
        </p:spPr>
        <p:txBody>
          <a:bodyPr wrap="square" lIns="0" tIns="0" rIns="0" bIns="0" rtlCol="0" anchor="ctr"/>
          <a:lstStyle/>
          <a:p>
            <a:pPr algn="ctr" indent="0" marL="0">
              <a:buNone/>
            </a:pPr>
            <a:r>
              <a:rPr lang="en-US" sz="1000" dirty="0">
                <a:solidFill>
                  <a:srgbClr val="546E7A"/>
                </a:solidFill>
              </a:rPr>
              <a:t>Loss Function</a:t>
            </a:r>
            <a:endParaRPr lang="en-US" sz="1000" dirty="0"/>
          </a:p>
        </p:txBody>
      </p:sp>
      <p:sp>
        <p:nvSpPr>
          <p:cNvPr id="35" name="Text 33"/>
          <p:cNvSpPr/>
          <p:nvPr/>
        </p:nvSpPr>
        <p:spPr>
          <a:xfrm>
            <a:off x="320040" y="3017520"/>
            <a:ext cx="1600200" cy="347472"/>
          </a:xfrm>
          <a:prstGeom prst="rect">
            <a:avLst/>
          </a:prstGeom>
          <a:noFill/>
          <a:ln/>
        </p:spPr>
        <p:txBody>
          <a:bodyPr wrap="square" lIns="0" tIns="0" rIns="0" bIns="0" rtlCol="0" anchor="ctr"/>
          <a:lstStyle/>
          <a:p>
            <a:pPr algn="ctr" indent="0" marL="0">
              <a:buNone/>
            </a:pPr>
            <a:r>
              <a:rPr lang="en-US" sz="1800" b="1" dirty="0">
                <a:solidFill>
                  <a:srgbClr val="00796B"/>
                </a:solidFill>
              </a:rPr>
              <a:t>MSE</a:t>
            </a:r>
            <a:endParaRPr lang="en-US" sz="1800" dirty="0"/>
          </a:p>
        </p:txBody>
      </p:sp>
      <p:sp>
        <p:nvSpPr>
          <p:cNvPr id="36" name="Shape 34"/>
          <p:cNvSpPr/>
          <p:nvPr/>
        </p:nvSpPr>
        <p:spPr>
          <a:xfrm>
            <a:off x="2057400" y="2633472"/>
            <a:ext cx="1600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7" name="Shape 35"/>
          <p:cNvSpPr/>
          <p:nvPr/>
        </p:nvSpPr>
        <p:spPr>
          <a:xfrm>
            <a:off x="2057400" y="2633472"/>
            <a:ext cx="1600200" cy="54864"/>
          </a:xfrm>
          <a:prstGeom prst="rect">
            <a:avLst/>
          </a:prstGeom>
          <a:solidFill>
            <a:srgbClr val="00796B"/>
          </a:solidFill>
          <a:ln/>
        </p:spPr>
      </p:sp>
      <p:sp>
        <p:nvSpPr>
          <p:cNvPr id="38" name="Text 36"/>
          <p:cNvSpPr/>
          <p:nvPr/>
        </p:nvSpPr>
        <p:spPr>
          <a:xfrm>
            <a:off x="2057400" y="2724912"/>
            <a:ext cx="1600200" cy="274320"/>
          </a:xfrm>
          <a:prstGeom prst="rect">
            <a:avLst/>
          </a:prstGeom>
          <a:noFill/>
          <a:ln/>
        </p:spPr>
        <p:txBody>
          <a:bodyPr wrap="square" lIns="0" tIns="0" rIns="0" bIns="0" rtlCol="0" anchor="ctr"/>
          <a:lstStyle/>
          <a:p>
            <a:pPr algn="ctr" indent="0" marL="0">
              <a:buNone/>
            </a:pPr>
            <a:r>
              <a:rPr lang="en-US" sz="1000" dirty="0">
                <a:solidFill>
                  <a:srgbClr val="546E7A"/>
                </a:solidFill>
              </a:rPr>
              <a:t>Optimizer</a:t>
            </a:r>
            <a:endParaRPr lang="en-US" sz="1000" dirty="0"/>
          </a:p>
        </p:txBody>
      </p:sp>
      <p:sp>
        <p:nvSpPr>
          <p:cNvPr id="39" name="Text 37"/>
          <p:cNvSpPr/>
          <p:nvPr/>
        </p:nvSpPr>
        <p:spPr>
          <a:xfrm>
            <a:off x="2057400" y="3017520"/>
            <a:ext cx="1600200" cy="347472"/>
          </a:xfrm>
          <a:prstGeom prst="rect">
            <a:avLst/>
          </a:prstGeom>
          <a:noFill/>
          <a:ln/>
        </p:spPr>
        <p:txBody>
          <a:bodyPr wrap="square" lIns="0" tIns="0" rIns="0" bIns="0" rtlCol="0" anchor="ctr"/>
          <a:lstStyle/>
          <a:p>
            <a:pPr algn="ctr" indent="0" marL="0">
              <a:buNone/>
            </a:pPr>
            <a:r>
              <a:rPr lang="en-US" sz="1800" b="1" dirty="0">
                <a:solidFill>
                  <a:srgbClr val="00796B"/>
                </a:solidFill>
              </a:rPr>
              <a:t>Adam</a:t>
            </a:r>
            <a:endParaRPr lang="en-US" sz="1800" dirty="0"/>
          </a:p>
        </p:txBody>
      </p:sp>
      <p:sp>
        <p:nvSpPr>
          <p:cNvPr id="40" name="Shape 38"/>
          <p:cNvSpPr/>
          <p:nvPr/>
        </p:nvSpPr>
        <p:spPr>
          <a:xfrm>
            <a:off x="3794760" y="2633472"/>
            <a:ext cx="1600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1" name="Shape 39"/>
          <p:cNvSpPr/>
          <p:nvPr/>
        </p:nvSpPr>
        <p:spPr>
          <a:xfrm>
            <a:off x="3794760" y="2633472"/>
            <a:ext cx="1600200" cy="54864"/>
          </a:xfrm>
          <a:prstGeom prst="rect">
            <a:avLst/>
          </a:prstGeom>
          <a:solidFill>
            <a:srgbClr val="00796B"/>
          </a:solidFill>
          <a:ln/>
        </p:spPr>
      </p:sp>
      <p:sp>
        <p:nvSpPr>
          <p:cNvPr id="42" name="Text 40"/>
          <p:cNvSpPr/>
          <p:nvPr/>
        </p:nvSpPr>
        <p:spPr>
          <a:xfrm>
            <a:off x="3794760" y="2724912"/>
            <a:ext cx="1600200" cy="274320"/>
          </a:xfrm>
          <a:prstGeom prst="rect">
            <a:avLst/>
          </a:prstGeom>
          <a:noFill/>
          <a:ln/>
        </p:spPr>
        <p:txBody>
          <a:bodyPr wrap="square" lIns="0" tIns="0" rIns="0" bIns="0" rtlCol="0" anchor="ctr"/>
          <a:lstStyle/>
          <a:p>
            <a:pPr algn="ctr" indent="0" marL="0">
              <a:buNone/>
            </a:pPr>
            <a:r>
              <a:rPr lang="en-US" sz="1000" dirty="0">
                <a:solidFill>
                  <a:srgbClr val="546E7A"/>
                </a:solidFill>
              </a:rPr>
              <a:t>Epochs</a:t>
            </a:r>
            <a:endParaRPr lang="en-US" sz="1000" dirty="0"/>
          </a:p>
        </p:txBody>
      </p:sp>
      <p:sp>
        <p:nvSpPr>
          <p:cNvPr id="43" name="Text 41"/>
          <p:cNvSpPr/>
          <p:nvPr/>
        </p:nvSpPr>
        <p:spPr>
          <a:xfrm>
            <a:off x="3794760" y="3017520"/>
            <a:ext cx="1600200" cy="347472"/>
          </a:xfrm>
          <a:prstGeom prst="rect">
            <a:avLst/>
          </a:prstGeom>
          <a:noFill/>
          <a:ln/>
        </p:spPr>
        <p:txBody>
          <a:bodyPr wrap="square" lIns="0" tIns="0" rIns="0" bIns="0" rtlCol="0" anchor="ctr"/>
          <a:lstStyle/>
          <a:p>
            <a:pPr algn="ctr" indent="0" marL="0">
              <a:buNone/>
            </a:pPr>
            <a:r>
              <a:rPr lang="en-US" sz="1800" b="1" dirty="0">
                <a:solidFill>
                  <a:srgbClr val="00796B"/>
                </a:solidFill>
              </a:rPr>
              <a:t>10</a:t>
            </a:r>
            <a:endParaRPr lang="en-US" sz="1800" dirty="0"/>
          </a:p>
        </p:txBody>
      </p:sp>
      <p:sp>
        <p:nvSpPr>
          <p:cNvPr id="44" name="Shape 42"/>
          <p:cNvSpPr/>
          <p:nvPr/>
        </p:nvSpPr>
        <p:spPr>
          <a:xfrm>
            <a:off x="5532120" y="2633472"/>
            <a:ext cx="1600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5" name="Shape 43"/>
          <p:cNvSpPr/>
          <p:nvPr/>
        </p:nvSpPr>
        <p:spPr>
          <a:xfrm>
            <a:off x="5532120" y="2633472"/>
            <a:ext cx="1600200" cy="54864"/>
          </a:xfrm>
          <a:prstGeom prst="rect">
            <a:avLst/>
          </a:prstGeom>
          <a:solidFill>
            <a:srgbClr val="00796B"/>
          </a:solidFill>
          <a:ln/>
        </p:spPr>
      </p:sp>
      <p:sp>
        <p:nvSpPr>
          <p:cNvPr id="46" name="Text 44"/>
          <p:cNvSpPr/>
          <p:nvPr/>
        </p:nvSpPr>
        <p:spPr>
          <a:xfrm>
            <a:off x="5532120" y="2724912"/>
            <a:ext cx="1600200" cy="274320"/>
          </a:xfrm>
          <a:prstGeom prst="rect">
            <a:avLst/>
          </a:prstGeom>
          <a:noFill/>
          <a:ln/>
        </p:spPr>
        <p:txBody>
          <a:bodyPr wrap="square" lIns="0" tIns="0" rIns="0" bIns="0" rtlCol="0" anchor="ctr"/>
          <a:lstStyle/>
          <a:p>
            <a:pPr algn="ctr" indent="0" marL="0">
              <a:buNone/>
            </a:pPr>
            <a:r>
              <a:rPr lang="en-US" sz="1000" dirty="0">
                <a:solidFill>
                  <a:srgbClr val="546E7A"/>
                </a:solidFill>
              </a:rPr>
              <a:t>Batch Size</a:t>
            </a:r>
            <a:endParaRPr lang="en-US" sz="1000" dirty="0"/>
          </a:p>
        </p:txBody>
      </p:sp>
      <p:sp>
        <p:nvSpPr>
          <p:cNvPr id="47" name="Text 45"/>
          <p:cNvSpPr/>
          <p:nvPr/>
        </p:nvSpPr>
        <p:spPr>
          <a:xfrm>
            <a:off x="5532120" y="3017520"/>
            <a:ext cx="1600200" cy="347472"/>
          </a:xfrm>
          <a:prstGeom prst="rect">
            <a:avLst/>
          </a:prstGeom>
          <a:noFill/>
          <a:ln/>
        </p:spPr>
        <p:txBody>
          <a:bodyPr wrap="square" lIns="0" tIns="0" rIns="0" bIns="0" rtlCol="0" anchor="ctr"/>
          <a:lstStyle/>
          <a:p>
            <a:pPr algn="ctr" indent="0" marL="0">
              <a:buNone/>
            </a:pPr>
            <a:r>
              <a:rPr lang="en-US" sz="1800" b="1" dirty="0">
                <a:solidFill>
                  <a:srgbClr val="00796B"/>
                </a:solidFill>
              </a:rPr>
              <a:t>16</a:t>
            </a:r>
            <a:endParaRPr lang="en-US" sz="1800" dirty="0"/>
          </a:p>
        </p:txBody>
      </p:sp>
      <p:sp>
        <p:nvSpPr>
          <p:cNvPr id="48" name="Shape 46"/>
          <p:cNvSpPr/>
          <p:nvPr/>
        </p:nvSpPr>
        <p:spPr>
          <a:xfrm>
            <a:off x="7269480" y="2633472"/>
            <a:ext cx="16002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9" name="Shape 47"/>
          <p:cNvSpPr/>
          <p:nvPr/>
        </p:nvSpPr>
        <p:spPr>
          <a:xfrm>
            <a:off x="7269480" y="2633472"/>
            <a:ext cx="1600200" cy="54864"/>
          </a:xfrm>
          <a:prstGeom prst="rect">
            <a:avLst/>
          </a:prstGeom>
          <a:solidFill>
            <a:srgbClr val="00796B"/>
          </a:solidFill>
          <a:ln/>
        </p:spPr>
      </p:sp>
      <p:sp>
        <p:nvSpPr>
          <p:cNvPr id="50" name="Text 48"/>
          <p:cNvSpPr/>
          <p:nvPr/>
        </p:nvSpPr>
        <p:spPr>
          <a:xfrm>
            <a:off x="7269480" y="2724912"/>
            <a:ext cx="1600200" cy="274320"/>
          </a:xfrm>
          <a:prstGeom prst="rect">
            <a:avLst/>
          </a:prstGeom>
          <a:noFill/>
          <a:ln/>
        </p:spPr>
        <p:txBody>
          <a:bodyPr wrap="square" lIns="0" tIns="0" rIns="0" bIns="0" rtlCol="0" anchor="ctr"/>
          <a:lstStyle/>
          <a:p>
            <a:pPr algn="ctr" indent="0" marL="0">
              <a:buNone/>
            </a:pPr>
            <a:r>
              <a:rPr lang="en-US" sz="1000" dirty="0">
                <a:solidFill>
                  <a:srgbClr val="546E7A"/>
                </a:solidFill>
              </a:rPr>
              <a:t>Parameters</a:t>
            </a:r>
            <a:endParaRPr lang="en-US" sz="1000" dirty="0"/>
          </a:p>
        </p:txBody>
      </p:sp>
      <p:sp>
        <p:nvSpPr>
          <p:cNvPr id="51" name="Text 49"/>
          <p:cNvSpPr/>
          <p:nvPr/>
        </p:nvSpPr>
        <p:spPr>
          <a:xfrm>
            <a:off x="7269480" y="3017520"/>
            <a:ext cx="1600200" cy="347472"/>
          </a:xfrm>
          <a:prstGeom prst="rect">
            <a:avLst/>
          </a:prstGeom>
          <a:noFill/>
          <a:ln/>
        </p:spPr>
        <p:txBody>
          <a:bodyPr wrap="square" lIns="0" tIns="0" rIns="0" bIns="0" rtlCol="0" anchor="ctr"/>
          <a:lstStyle/>
          <a:p>
            <a:pPr algn="ctr" indent="0" marL="0">
              <a:buNone/>
            </a:pPr>
            <a:r>
              <a:rPr lang="en-US" sz="1800" b="1" dirty="0">
                <a:solidFill>
                  <a:srgbClr val="00796B"/>
                </a:solidFill>
              </a:rPr>
              <a:t>26.1 M</a:t>
            </a:r>
            <a:endParaRPr lang="en-US" sz="1800" dirty="0"/>
          </a:p>
        </p:txBody>
      </p:sp>
      <p:graphicFrame>
        <p:nvGraphicFramePr>
          <p:cNvPr id="52" name="Chart 0" descr=""/>
          <p:cNvGraphicFramePr/>
          <p:nvPr/>
        </p:nvGraphicFramePr>
        <p:xfrm>
          <a:off x="320040" y="3611880"/>
          <a:ext cx="8503920" cy="1417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796B"/>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600" b="1" spc="100" kern="0" dirty="0">
                <a:solidFill>
                  <a:srgbClr val="FFFFFF"/>
                </a:solidFill>
              </a:rPr>
              <a:t>MODEL 2 — TRANSFER LEARNING (MobileNetV2)</a:t>
            </a:r>
            <a:endParaRPr lang="en-US" sz="1600" dirty="0"/>
          </a:p>
        </p:txBody>
      </p:sp>
      <p:sp>
        <p:nvSpPr>
          <p:cNvPr id="4" name="Shape 2"/>
          <p:cNvSpPr/>
          <p:nvPr/>
        </p:nvSpPr>
        <p:spPr>
          <a:xfrm>
            <a:off x="320040" y="822960"/>
            <a:ext cx="4206240" cy="260604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4206240" cy="73152"/>
          </a:xfrm>
          <a:prstGeom prst="rect">
            <a:avLst/>
          </a:prstGeom>
          <a:solidFill>
            <a:srgbClr val="00796B"/>
          </a:solidFill>
          <a:ln/>
        </p:spPr>
      </p:sp>
      <p:sp>
        <p:nvSpPr>
          <p:cNvPr id="6" name="Shape 4"/>
          <p:cNvSpPr/>
          <p:nvPr/>
        </p:nvSpPr>
        <p:spPr>
          <a:xfrm>
            <a:off x="3337560" y="896112"/>
            <a:ext cx="1005840" cy="274320"/>
          </a:xfrm>
          <a:prstGeom prst="rect">
            <a:avLst/>
          </a:prstGeom>
          <a:solidFill>
            <a:srgbClr val="00796B"/>
          </a:solidFill>
          <a:ln/>
        </p:spPr>
      </p:sp>
      <p:sp>
        <p:nvSpPr>
          <p:cNvPr id="7" name="Text 5"/>
          <p:cNvSpPr/>
          <p:nvPr/>
        </p:nvSpPr>
        <p:spPr>
          <a:xfrm>
            <a:off x="3337560" y="896112"/>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5 Epochs</a:t>
            </a:r>
            <a:endParaRPr lang="en-US" sz="1000" dirty="0"/>
          </a:p>
        </p:txBody>
      </p:sp>
      <p:sp>
        <p:nvSpPr>
          <p:cNvPr id="8" name="Text 6"/>
          <p:cNvSpPr/>
          <p:nvPr/>
        </p:nvSpPr>
        <p:spPr>
          <a:xfrm>
            <a:off x="457200" y="950976"/>
            <a:ext cx="2834640" cy="320040"/>
          </a:xfrm>
          <a:prstGeom prst="rect">
            <a:avLst/>
          </a:prstGeom>
          <a:noFill/>
          <a:ln/>
        </p:spPr>
        <p:txBody>
          <a:bodyPr wrap="square" lIns="0" tIns="0" rIns="0" bIns="0" rtlCol="0" anchor="ctr"/>
          <a:lstStyle/>
          <a:p>
            <a:pPr indent="0" marL="0">
              <a:buNone/>
            </a:pPr>
            <a:r>
              <a:rPr lang="en-US" sz="1300" b="1" dirty="0">
                <a:solidFill>
                  <a:srgbClr val="FFFFFF"/>
                </a:solidFill>
              </a:rPr>
              <a:t>Phase 1 — Frozen Backbone</a:t>
            </a:r>
            <a:endParaRPr lang="en-US" sz="1300" dirty="0"/>
          </a:p>
        </p:txBody>
      </p:sp>
      <p:sp>
        <p:nvSpPr>
          <p:cNvPr id="9" name="Text 7"/>
          <p:cNvSpPr/>
          <p:nvPr/>
        </p:nvSpPr>
        <p:spPr>
          <a:xfrm>
            <a:off x="457200" y="1371600"/>
            <a:ext cx="3913632" cy="1920240"/>
          </a:xfrm>
          <a:prstGeom prst="rect">
            <a:avLst/>
          </a:prstGeom>
          <a:noFill/>
          <a:ln/>
        </p:spPr>
        <p:txBody>
          <a:bodyPr wrap="square" lIns="0" tIns="0" rIns="0" bIns="0" rtlCol="0" anchor="ctr"/>
          <a:lstStyle/>
          <a:p>
            <a:pPr indent="0" marL="0">
              <a:buNone/>
            </a:pPr>
            <a:r>
              <a:rPr lang="en-US" sz="1100" dirty="0">
                <a:solidFill>
                  <a:srgbClr val="B0BEC5"/>
                </a:solidFill>
              </a:rPr>
              <a:t>MobileNetV2 backbone loaded with ImageNet weights.</a:t>
            </a:r>
            <a:endParaRPr lang="en-US" sz="1100" dirty="0"/>
          </a:p>
          <a:p>
            <a:pPr indent="0" marL="0">
              <a:buNone/>
            </a:pPr>
            <a:endParaRPr lang="en-US" sz="1100" dirty="0"/>
          </a:p>
          <a:p>
            <a:pPr indent="0" marL="0">
              <a:buNone/>
            </a:pPr>
            <a:r>
              <a:rPr lang="en-US" sz="1100" dirty="0">
                <a:solidFill>
                  <a:srgbClr val="B0BEC5"/>
                </a:solidFill>
              </a:rPr>
              <a:t>All backbone parameters FROZEN</a:t>
            </a:r>
            <a:endParaRPr lang="en-US" sz="1100" dirty="0"/>
          </a:p>
          <a:p>
            <a:pPr indent="0" marL="0">
              <a:buNone/>
            </a:pPr>
            <a:r>
              <a:rPr lang="en-US" sz="1100" dirty="0">
                <a:solidFill>
                  <a:srgbClr val="B0BEC5"/>
                </a:solidFill>
              </a:rPr>
              <a:t>(requires_grad = False)</a:t>
            </a:r>
            <a:endParaRPr lang="en-US" sz="1100" dirty="0"/>
          </a:p>
          <a:p>
            <a:pPr indent="0" marL="0">
              <a:buNone/>
            </a:pPr>
            <a:endParaRPr lang="en-US" sz="1100" dirty="0"/>
          </a:p>
          <a:p>
            <a:pPr indent="0" marL="0">
              <a:buNone/>
            </a:pPr>
            <a:r>
              <a:rPr lang="en-US" sz="1100" dirty="0">
                <a:solidFill>
                  <a:srgbClr val="B0BEC5"/>
                </a:solidFill>
              </a:rPr>
              <a:t>Only the custom regression head trains — learns to map ImageNet features → calories.</a:t>
            </a:r>
            <a:endParaRPr lang="en-US" sz="1100" dirty="0"/>
          </a:p>
        </p:txBody>
      </p:sp>
      <p:sp>
        <p:nvSpPr>
          <p:cNvPr id="10" name="Shape 8"/>
          <p:cNvSpPr/>
          <p:nvPr/>
        </p:nvSpPr>
        <p:spPr>
          <a:xfrm>
            <a:off x="4846320" y="822960"/>
            <a:ext cx="4206240" cy="260604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1" name="Shape 9"/>
          <p:cNvSpPr/>
          <p:nvPr/>
        </p:nvSpPr>
        <p:spPr>
          <a:xfrm>
            <a:off x="4846320" y="822960"/>
            <a:ext cx="4206240" cy="73152"/>
          </a:xfrm>
          <a:prstGeom prst="rect">
            <a:avLst/>
          </a:prstGeom>
          <a:solidFill>
            <a:srgbClr val="FF6F00"/>
          </a:solidFill>
          <a:ln/>
        </p:spPr>
      </p:sp>
      <p:sp>
        <p:nvSpPr>
          <p:cNvPr id="12" name="Shape 10"/>
          <p:cNvSpPr/>
          <p:nvPr/>
        </p:nvSpPr>
        <p:spPr>
          <a:xfrm>
            <a:off x="7863840" y="896112"/>
            <a:ext cx="1005840" cy="274320"/>
          </a:xfrm>
          <a:prstGeom prst="rect">
            <a:avLst/>
          </a:prstGeom>
          <a:solidFill>
            <a:srgbClr val="FF6F00"/>
          </a:solidFill>
          <a:ln/>
        </p:spPr>
      </p:sp>
      <p:sp>
        <p:nvSpPr>
          <p:cNvPr id="13" name="Text 11"/>
          <p:cNvSpPr/>
          <p:nvPr/>
        </p:nvSpPr>
        <p:spPr>
          <a:xfrm>
            <a:off x="7863840" y="896112"/>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rPr>
              <a:t>5 Epochs</a:t>
            </a:r>
            <a:endParaRPr lang="en-US" sz="1000" dirty="0"/>
          </a:p>
        </p:txBody>
      </p:sp>
      <p:sp>
        <p:nvSpPr>
          <p:cNvPr id="14" name="Text 12"/>
          <p:cNvSpPr/>
          <p:nvPr/>
        </p:nvSpPr>
        <p:spPr>
          <a:xfrm>
            <a:off x="4983480" y="950976"/>
            <a:ext cx="2834640" cy="320040"/>
          </a:xfrm>
          <a:prstGeom prst="rect">
            <a:avLst/>
          </a:prstGeom>
          <a:noFill/>
          <a:ln/>
        </p:spPr>
        <p:txBody>
          <a:bodyPr wrap="square" lIns="0" tIns="0" rIns="0" bIns="0" rtlCol="0" anchor="ctr"/>
          <a:lstStyle/>
          <a:p>
            <a:pPr indent="0" marL="0">
              <a:buNone/>
            </a:pPr>
            <a:r>
              <a:rPr lang="en-US" sz="1300" b="1" dirty="0">
                <a:solidFill>
                  <a:srgbClr val="FFFFFF"/>
                </a:solidFill>
              </a:rPr>
              <a:t>Phase 2 — Fine-Tuning</a:t>
            </a:r>
            <a:endParaRPr lang="en-US" sz="1300" dirty="0"/>
          </a:p>
        </p:txBody>
      </p:sp>
      <p:sp>
        <p:nvSpPr>
          <p:cNvPr id="15" name="Text 13"/>
          <p:cNvSpPr/>
          <p:nvPr/>
        </p:nvSpPr>
        <p:spPr>
          <a:xfrm>
            <a:off x="4983480" y="1371600"/>
            <a:ext cx="3913632" cy="1920240"/>
          </a:xfrm>
          <a:prstGeom prst="rect">
            <a:avLst/>
          </a:prstGeom>
          <a:noFill/>
          <a:ln/>
        </p:spPr>
        <p:txBody>
          <a:bodyPr wrap="square" lIns="0" tIns="0" rIns="0" bIns="0" rtlCol="0" anchor="ctr"/>
          <a:lstStyle/>
          <a:p>
            <a:pPr indent="0" marL="0">
              <a:buNone/>
            </a:pPr>
            <a:r>
              <a:rPr lang="en-US" sz="1100" dirty="0">
                <a:solidFill>
                  <a:srgbClr val="B0BEC5"/>
                </a:solidFill>
              </a:rPr>
              <a:t>Last layers of backbone UNFROZEN.</a:t>
            </a:r>
            <a:endParaRPr lang="en-US" sz="1100" dirty="0"/>
          </a:p>
          <a:p>
            <a:pPr indent="0" marL="0">
              <a:buNone/>
            </a:pPr>
            <a:endParaRPr lang="en-US" sz="1100" dirty="0"/>
          </a:p>
          <a:p>
            <a:pPr indent="0" marL="0">
              <a:buNone/>
            </a:pPr>
            <a:r>
              <a:rPr lang="en-US" sz="1100" dirty="0">
                <a:solidFill>
                  <a:srgbClr val="B0BEC5"/>
                </a:solidFill>
              </a:rPr>
              <a:t>Backbone + head train jointly at a lower learning rate.</a:t>
            </a:r>
            <a:endParaRPr lang="en-US" sz="1100" dirty="0"/>
          </a:p>
          <a:p>
            <a:pPr indent="0" marL="0">
              <a:buNone/>
            </a:pPr>
            <a:endParaRPr lang="en-US" sz="1100" dirty="0"/>
          </a:p>
          <a:p>
            <a:pPr indent="0" marL="0">
              <a:buNone/>
            </a:pPr>
            <a:r>
              <a:rPr lang="en-US" sz="1100" dirty="0">
                <a:solidFill>
                  <a:srgbClr val="B0BEC5"/>
                </a:solidFill>
              </a:rPr>
              <a:t>Higher-level features adapt to food-domain calorie regression.</a:t>
            </a:r>
            <a:endParaRPr lang="en-US" sz="1100" dirty="0"/>
          </a:p>
        </p:txBody>
      </p:sp>
      <p:sp>
        <p:nvSpPr>
          <p:cNvPr id="16" name="Shape 14"/>
          <p:cNvSpPr/>
          <p:nvPr/>
        </p:nvSpPr>
        <p:spPr>
          <a:xfrm>
            <a:off x="4315968" y="2011680"/>
            <a:ext cx="502920" cy="54864"/>
          </a:xfrm>
          <a:prstGeom prst="rect">
            <a:avLst/>
          </a:prstGeom>
          <a:solidFill>
            <a:srgbClr val="B0BEC5"/>
          </a:solidFill>
          <a:ln/>
        </p:spPr>
      </p:sp>
      <p:sp>
        <p:nvSpPr>
          <p:cNvPr id="17" name="Shape 15"/>
          <p:cNvSpPr/>
          <p:nvPr/>
        </p:nvSpPr>
        <p:spPr>
          <a:xfrm>
            <a:off x="4663440" y="1920240"/>
            <a:ext cx="54864" cy="237744"/>
          </a:xfrm>
          <a:prstGeom prst="rect">
            <a:avLst/>
          </a:prstGeom>
          <a:solidFill>
            <a:srgbClr val="B0BEC5"/>
          </a:solidFill>
          <a:ln/>
        </p:spPr>
      </p:sp>
      <p:sp>
        <p:nvSpPr>
          <p:cNvPr id="18" name="Shape 16"/>
          <p:cNvSpPr/>
          <p:nvPr/>
        </p:nvSpPr>
        <p:spPr>
          <a:xfrm>
            <a:off x="320040" y="3584448"/>
            <a:ext cx="8503920" cy="137160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9" name="Text 17"/>
          <p:cNvSpPr/>
          <p:nvPr/>
        </p:nvSpPr>
        <p:spPr>
          <a:xfrm>
            <a:off x="457200" y="3639312"/>
            <a:ext cx="8229600" cy="274320"/>
          </a:xfrm>
          <a:prstGeom prst="rect">
            <a:avLst/>
          </a:prstGeom>
          <a:noFill/>
          <a:ln/>
        </p:spPr>
        <p:txBody>
          <a:bodyPr wrap="square" lIns="0" tIns="0" rIns="0" bIns="0" rtlCol="0" anchor="ctr"/>
          <a:lstStyle/>
          <a:p>
            <a:pPr indent="0" marL="0">
              <a:buNone/>
            </a:pPr>
            <a:r>
              <a:rPr lang="en-US" sz="1200" b="1" dirty="0">
                <a:solidFill>
                  <a:srgbClr val="FF6F00"/>
                </a:solidFill>
              </a:rPr>
              <a:t>Custom Regression Head  (every layer explicitly defined in code)</a:t>
            </a:r>
            <a:endParaRPr lang="en-US" sz="1200" dirty="0"/>
          </a:p>
        </p:txBody>
      </p:sp>
      <p:sp>
        <p:nvSpPr>
          <p:cNvPr id="20" name="Shape 18"/>
          <p:cNvSpPr/>
          <p:nvPr/>
        </p:nvSpPr>
        <p:spPr>
          <a:xfrm>
            <a:off x="457200" y="3977640"/>
            <a:ext cx="1554480" cy="82296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21" name="Text 19"/>
          <p:cNvSpPr/>
          <p:nvPr/>
        </p:nvSpPr>
        <p:spPr>
          <a:xfrm>
            <a:off x="457200" y="3995928"/>
            <a:ext cx="1554480" cy="384048"/>
          </a:xfrm>
          <a:prstGeom prst="rect">
            <a:avLst/>
          </a:prstGeom>
          <a:noFill/>
          <a:ln/>
        </p:spPr>
        <p:txBody>
          <a:bodyPr wrap="square" lIns="0" tIns="0" rIns="0" bIns="0" rtlCol="0" anchor="b"/>
          <a:lstStyle/>
          <a:p>
            <a:pPr algn="ctr" indent="0" marL="0">
              <a:buNone/>
            </a:pPr>
            <a:r>
              <a:rPr lang="en-US" sz="1000" b="1" dirty="0">
                <a:solidFill>
                  <a:srgbClr val="FFFFFF"/>
                </a:solidFill>
              </a:rPr>
              <a:t>Dropout</a:t>
            </a:r>
            <a:endParaRPr lang="en-US" sz="1000" dirty="0"/>
          </a:p>
        </p:txBody>
      </p:sp>
      <p:sp>
        <p:nvSpPr>
          <p:cNvPr id="22" name="Text 20"/>
          <p:cNvSpPr/>
          <p:nvPr/>
        </p:nvSpPr>
        <p:spPr>
          <a:xfrm>
            <a:off x="457200" y="4370832"/>
            <a:ext cx="1554480" cy="274320"/>
          </a:xfrm>
          <a:prstGeom prst="rect">
            <a:avLst/>
          </a:prstGeom>
          <a:noFill/>
          <a:ln/>
        </p:spPr>
        <p:txBody>
          <a:bodyPr wrap="square" lIns="0" tIns="0" rIns="0" bIns="0" rtlCol="0" anchor="t"/>
          <a:lstStyle/>
          <a:p>
            <a:pPr algn="ctr" indent="0" marL="0">
              <a:buNone/>
            </a:pPr>
            <a:r>
              <a:rPr lang="en-US" sz="900" dirty="0">
                <a:solidFill>
                  <a:srgbClr val="FFFFFF"/>
                </a:solidFill>
              </a:rPr>
              <a:t>p = 0.3</a:t>
            </a:r>
            <a:endParaRPr lang="en-US" sz="900" dirty="0"/>
          </a:p>
        </p:txBody>
      </p:sp>
      <p:sp>
        <p:nvSpPr>
          <p:cNvPr id="23" name="Shape 21"/>
          <p:cNvSpPr/>
          <p:nvPr/>
        </p:nvSpPr>
        <p:spPr>
          <a:xfrm>
            <a:off x="2011680" y="4334256"/>
            <a:ext cx="128016" cy="54864"/>
          </a:xfrm>
          <a:prstGeom prst="rect">
            <a:avLst/>
          </a:prstGeom>
          <a:solidFill>
            <a:srgbClr val="B0BEC5"/>
          </a:solidFill>
          <a:ln/>
        </p:spPr>
      </p:sp>
      <p:sp>
        <p:nvSpPr>
          <p:cNvPr id="24" name="Shape 22"/>
          <p:cNvSpPr/>
          <p:nvPr/>
        </p:nvSpPr>
        <p:spPr>
          <a:xfrm>
            <a:off x="2139696" y="3977640"/>
            <a:ext cx="1554480" cy="822960"/>
          </a:xfrm>
          <a:prstGeom prst="rect">
            <a:avLst/>
          </a:prstGeom>
          <a:solidFill>
            <a:srgbClr val="4DB6AC"/>
          </a:solidFill>
          <a:ln/>
          <a:effectLst>
            <a:outerShdw sx="100000" sy="100000" kx="0" ky="0" algn="bl" rotWithShape="0" blurRad="101600" dist="38100" dir="8100000">
              <a:srgbClr val="000000">
                <a:alpha val="12000"/>
              </a:srgbClr>
            </a:outerShdw>
          </a:effectLst>
        </p:spPr>
      </p:sp>
      <p:sp>
        <p:nvSpPr>
          <p:cNvPr id="25" name="Text 23"/>
          <p:cNvSpPr/>
          <p:nvPr/>
        </p:nvSpPr>
        <p:spPr>
          <a:xfrm>
            <a:off x="2139696" y="3995928"/>
            <a:ext cx="1554480" cy="384048"/>
          </a:xfrm>
          <a:prstGeom prst="rect">
            <a:avLst/>
          </a:prstGeom>
          <a:noFill/>
          <a:ln/>
        </p:spPr>
        <p:txBody>
          <a:bodyPr wrap="square" lIns="0" tIns="0" rIns="0" bIns="0" rtlCol="0" anchor="b"/>
          <a:lstStyle/>
          <a:p>
            <a:pPr algn="ctr" indent="0" marL="0">
              <a:buNone/>
            </a:pPr>
            <a:r>
              <a:rPr lang="en-US" sz="1000" b="1" dirty="0">
                <a:solidFill>
                  <a:srgbClr val="FFFFFF"/>
                </a:solidFill>
              </a:rPr>
              <a:t>Linear</a:t>
            </a:r>
            <a:endParaRPr lang="en-US" sz="1000" dirty="0"/>
          </a:p>
        </p:txBody>
      </p:sp>
      <p:sp>
        <p:nvSpPr>
          <p:cNvPr id="26" name="Text 24"/>
          <p:cNvSpPr/>
          <p:nvPr/>
        </p:nvSpPr>
        <p:spPr>
          <a:xfrm>
            <a:off x="2139696" y="4370832"/>
            <a:ext cx="1554480" cy="274320"/>
          </a:xfrm>
          <a:prstGeom prst="rect">
            <a:avLst/>
          </a:prstGeom>
          <a:noFill/>
          <a:ln/>
        </p:spPr>
        <p:txBody>
          <a:bodyPr wrap="square" lIns="0" tIns="0" rIns="0" bIns="0" rtlCol="0" anchor="t"/>
          <a:lstStyle/>
          <a:p>
            <a:pPr algn="ctr" indent="0" marL="0">
              <a:buNone/>
            </a:pPr>
            <a:r>
              <a:rPr lang="en-US" sz="900" dirty="0">
                <a:solidFill>
                  <a:srgbClr val="FFFFFF"/>
                </a:solidFill>
              </a:rPr>
              <a:t>in_features → 256</a:t>
            </a:r>
            <a:endParaRPr lang="en-US" sz="900" dirty="0"/>
          </a:p>
        </p:txBody>
      </p:sp>
      <p:sp>
        <p:nvSpPr>
          <p:cNvPr id="27" name="Shape 25"/>
          <p:cNvSpPr/>
          <p:nvPr/>
        </p:nvSpPr>
        <p:spPr>
          <a:xfrm>
            <a:off x="3694176" y="4334256"/>
            <a:ext cx="128016" cy="54864"/>
          </a:xfrm>
          <a:prstGeom prst="rect">
            <a:avLst/>
          </a:prstGeom>
          <a:solidFill>
            <a:srgbClr val="B0BEC5"/>
          </a:solidFill>
          <a:ln/>
        </p:spPr>
      </p:sp>
      <p:sp>
        <p:nvSpPr>
          <p:cNvPr id="28" name="Shape 26"/>
          <p:cNvSpPr/>
          <p:nvPr/>
        </p:nvSpPr>
        <p:spPr>
          <a:xfrm>
            <a:off x="3822192" y="3977640"/>
            <a:ext cx="1554480" cy="822960"/>
          </a:xfrm>
          <a:prstGeom prst="rect">
            <a:avLst/>
          </a:prstGeom>
          <a:solidFill>
            <a:srgbClr val="546E7A"/>
          </a:solidFill>
          <a:ln/>
          <a:effectLst>
            <a:outerShdw sx="100000" sy="100000" kx="0" ky="0" algn="bl" rotWithShape="0" blurRad="101600" dist="38100" dir="8100000">
              <a:srgbClr val="000000">
                <a:alpha val="12000"/>
              </a:srgbClr>
            </a:outerShdw>
          </a:effectLst>
        </p:spPr>
      </p:sp>
      <p:sp>
        <p:nvSpPr>
          <p:cNvPr id="29" name="Text 27"/>
          <p:cNvSpPr/>
          <p:nvPr/>
        </p:nvSpPr>
        <p:spPr>
          <a:xfrm>
            <a:off x="3822192" y="3995928"/>
            <a:ext cx="1554480" cy="384048"/>
          </a:xfrm>
          <a:prstGeom prst="rect">
            <a:avLst/>
          </a:prstGeom>
          <a:noFill/>
          <a:ln/>
        </p:spPr>
        <p:txBody>
          <a:bodyPr wrap="square" lIns="0" tIns="0" rIns="0" bIns="0" rtlCol="0" anchor="b"/>
          <a:lstStyle/>
          <a:p>
            <a:pPr algn="ctr" indent="0" marL="0">
              <a:buNone/>
            </a:pPr>
            <a:r>
              <a:rPr lang="en-US" sz="1000" b="1" dirty="0">
                <a:solidFill>
                  <a:srgbClr val="FFFFFF"/>
                </a:solidFill>
              </a:rPr>
              <a:t>ReLU</a:t>
            </a:r>
            <a:endParaRPr lang="en-US" sz="1000" dirty="0"/>
          </a:p>
        </p:txBody>
      </p:sp>
      <p:sp>
        <p:nvSpPr>
          <p:cNvPr id="30" name="Text 28"/>
          <p:cNvSpPr/>
          <p:nvPr/>
        </p:nvSpPr>
        <p:spPr>
          <a:xfrm>
            <a:off x="3822192" y="4370832"/>
            <a:ext cx="1554480" cy="274320"/>
          </a:xfrm>
          <a:prstGeom prst="rect">
            <a:avLst/>
          </a:prstGeom>
          <a:noFill/>
          <a:ln/>
        </p:spPr>
        <p:txBody>
          <a:bodyPr wrap="square" lIns="0" tIns="0" rIns="0" bIns="0" rtlCol="0" anchor="t"/>
          <a:lstStyle/>
          <a:p>
            <a:pPr algn="ctr" indent="0" marL="0">
              <a:buNone/>
            </a:pPr>
            <a:r>
              <a:rPr lang="en-US" sz="900" dirty="0">
                <a:solidFill>
                  <a:srgbClr val="FFFFFF"/>
                </a:solidFill>
              </a:rPr>
              <a:t>—</a:t>
            </a:r>
            <a:endParaRPr lang="en-US" sz="900" dirty="0"/>
          </a:p>
        </p:txBody>
      </p:sp>
      <p:sp>
        <p:nvSpPr>
          <p:cNvPr id="31" name="Shape 29"/>
          <p:cNvSpPr/>
          <p:nvPr/>
        </p:nvSpPr>
        <p:spPr>
          <a:xfrm>
            <a:off x="5376672" y="4334256"/>
            <a:ext cx="128016" cy="54864"/>
          </a:xfrm>
          <a:prstGeom prst="rect">
            <a:avLst/>
          </a:prstGeom>
          <a:solidFill>
            <a:srgbClr val="B0BEC5"/>
          </a:solidFill>
          <a:ln/>
        </p:spPr>
      </p:sp>
      <p:sp>
        <p:nvSpPr>
          <p:cNvPr id="32" name="Shape 30"/>
          <p:cNvSpPr/>
          <p:nvPr/>
        </p:nvSpPr>
        <p:spPr>
          <a:xfrm>
            <a:off x="5504688" y="3977640"/>
            <a:ext cx="1554480" cy="82296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33" name="Text 31"/>
          <p:cNvSpPr/>
          <p:nvPr/>
        </p:nvSpPr>
        <p:spPr>
          <a:xfrm>
            <a:off x="5504688" y="3995928"/>
            <a:ext cx="1554480" cy="384048"/>
          </a:xfrm>
          <a:prstGeom prst="rect">
            <a:avLst/>
          </a:prstGeom>
          <a:noFill/>
          <a:ln/>
        </p:spPr>
        <p:txBody>
          <a:bodyPr wrap="square" lIns="0" tIns="0" rIns="0" bIns="0" rtlCol="0" anchor="b"/>
          <a:lstStyle/>
          <a:p>
            <a:pPr algn="ctr" indent="0" marL="0">
              <a:buNone/>
            </a:pPr>
            <a:r>
              <a:rPr lang="en-US" sz="1000" b="1" dirty="0">
                <a:solidFill>
                  <a:srgbClr val="FFFFFF"/>
                </a:solidFill>
              </a:rPr>
              <a:t>Dropout</a:t>
            </a:r>
            <a:endParaRPr lang="en-US" sz="1000" dirty="0"/>
          </a:p>
        </p:txBody>
      </p:sp>
      <p:sp>
        <p:nvSpPr>
          <p:cNvPr id="34" name="Text 32"/>
          <p:cNvSpPr/>
          <p:nvPr/>
        </p:nvSpPr>
        <p:spPr>
          <a:xfrm>
            <a:off x="5504688" y="4370832"/>
            <a:ext cx="1554480" cy="274320"/>
          </a:xfrm>
          <a:prstGeom prst="rect">
            <a:avLst/>
          </a:prstGeom>
          <a:noFill/>
          <a:ln/>
        </p:spPr>
        <p:txBody>
          <a:bodyPr wrap="square" lIns="0" tIns="0" rIns="0" bIns="0" rtlCol="0" anchor="t"/>
          <a:lstStyle/>
          <a:p>
            <a:pPr algn="ctr" indent="0" marL="0">
              <a:buNone/>
            </a:pPr>
            <a:r>
              <a:rPr lang="en-US" sz="900" dirty="0">
                <a:solidFill>
                  <a:srgbClr val="FFFFFF"/>
                </a:solidFill>
              </a:rPr>
              <a:t>p = 0.2</a:t>
            </a:r>
            <a:endParaRPr lang="en-US" sz="900" dirty="0"/>
          </a:p>
        </p:txBody>
      </p:sp>
      <p:sp>
        <p:nvSpPr>
          <p:cNvPr id="35" name="Shape 33"/>
          <p:cNvSpPr/>
          <p:nvPr/>
        </p:nvSpPr>
        <p:spPr>
          <a:xfrm>
            <a:off x="7059168" y="4334256"/>
            <a:ext cx="128016" cy="54864"/>
          </a:xfrm>
          <a:prstGeom prst="rect">
            <a:avLst/>
          </a:prstGeom>
          <a:solidFill>
            <a:srgbClr val="B0BEC5"/>
          </a:solidFill>
          <a:ln/>
        </p:spPr>
      </p:sp>
      <p:sp>
        <p:nvSpPr>
          <p:cNvPr id="36" name="Shape 34"/>
          <p:cNvSpPr/>
          <p:nvPr/>
        </p:nvSpPr>
        <p:spPr>
          <a:xfrm>
            <a:off x="7187184" y="3977640"/>
            <a:ext cx="1554480" cy="822960"/>
          </a:xfrm>
          <a:prstGeom prst="rect">
            <a:avLst/>
          </a:prstGeom>
          <a:solidFill>
            <a:srgbClr val="FF6F00"/>
          </a:solidFill>
          <a:ln/>
          <a:effectLst>
            <a:outerShdw sx="100000" sy="100000" kx="0" ky="0" algn="bl" rotWithShape="0" blurRad="101600" dist="38100" dir="8100000">
              <a:srgbClr val="000000">
                <a:alpha val="12000"/>
              </a:srgbClr>
            </a:outerShdw>
          </a:effectLst>
        </p:spPr>
      </p:sp>
      <p:sp>
        <p:nvSpPr>
          <p:cNvPr id="37" name="Text 35"/>
          <p:cNvSpPr/>
          <p:nvPr/>
        </p:nvSpPr>
        <p:spPr>
          <a:xfrm>
            <a:off x="7187184" y="3995928"/>
            <a:ext cx="1554480" cy="384048"/>
          </a:xfrm>
          <a:prstGeom prst="rect">
            <a:avLst/>
          </a:prstGeom>
          <a:noFill/>
          <a:ln/>
        </p:spPr>
        <p:txBody>
          <a:bodyPr wrap="square" lIns="0" tIns="0" rIns="0" bIns="0" rtlCol="0" anchor="b"/>
          <a:lstStyle/>
          <a:p>
            <a:pPr algn="ctr" indent="0" marL="0">
              <a:buNone/>
            </a:pPr>
            <a:r>
              <a:rPr lang="en-US" sz="1000" b="1" dirty="0">
                <a:solidFill>
                  <a:srgbClr val="FFFFFF"/>
                </a:solidFill>
              </a:rPr>
              <a:t>Linear (Output)</a:t>
            </a:r>
            <a:endParaRPr lang="en-US" sz="1000" dirty="0"/>
          </a:p>
        </p:txBody>
      </p:sp>
      <p:sp>
        <p:nvSpPr>
          <p:cNvPr id="38" name="Text 36"/>
          <p:cNvSpPr/>
          <p:nvPr/>
        </p:nvSpPr>
        <p:spPr>
          <a:xfrm>
            <a:off x="7187184" y="4370832"/>
            <a:ext cx="1554480" cy="274320"/>
          </a:xfrm>
          <a:prstGeom prst="rect">
            <a:avLst/>
          </a:prstGeom>
          <a:noFill/>
          <a:ln/>
        </p:spPr>
        <p:txBody>
          <a:bodyPr wrap="square" lIns="0" tIns="0" rIns="0" bIns="0" rtlCol="0" anchor="t"/>
          <a:lstStyle/>
          <a:p>
            <a:pPr algn="ctr" indent="0" marL="0">
              <a:buNone/>
            </a:pPr>
            <a:r>
              <a:rPr lang="en-US" sz="900" dirty="0">
                <a:solidFill>
                  <a:srgbClr val="FFFFFF"/>
                </a:solidFill>
              </a:rPr>
              <a:t>256 → 1  (kcal)</a:t>
            </a:r>
            <a:endParaRPr lang="en-US" sz="900" dirty="0"/>
          </a:p>
        </p:txBody>
      </p:sp>
      <p:sp>
        <p:nvSpPr>
          <p:cNvPr id="39" name="Text 37"/>
          <p:cNvSpPr/>
          <p:nvPr/>
        </p:nvSpPr>
        <p:spPr>
          <a:xfrm>
            <a:off x="320040" y="4846320"/>
            <a:ext cx="8503920" cy="228600"/>
          </a:xfrm>
          <a:prstGeom prst="rect">
            <a:avLst/>
          </a:prstGeom>
          <a:noFill/>
          <a:ln/>
        </p:spPr>
        <p:txBody>
          <a:bodyPr wrap="square" rtlCol="0" anchor="ctr"/>
          <a:lstStyle/>
          <a:p>
            <a:pPr algn="ctr" indent="0" marL="0">
              <a:buNone/>
            </a:pPr>
            <a:r>
              <a:rPr lang="en-US" sz="1000" dirty="0">
                <a:solidFill>
                  <a:srgbClr val="B0BEC5"/>
                </a:solidFill>
              </a:rPr>
              <a:t>Total: 1,854,273 trainable parameters  ·  10 epochs (5 frozen + 5 fine-tuning)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2D"/>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spc="300" kern="0" dirty="0">
                <a:solidFill>
                  <a:srgbClr val="FFFFFF"/>
                </a:solidFill>
              </a:rPr>
              <a:t>EVALUATION RESULTS</a:t>
            </a:r>
            <a:endParaRPr lang="en-US" sz="1800" dirty="0"/>
          </a:p>
        </p:txBody>
      </p:sp>
      <p:sp>
        <p:nvSpPr>
          <p:cNvPr id="4" name="Shape 2"/>
          <p:cNvSpPr/>
          <p:nvPr/>
        </p:nvSpPr>
        <p:spPr>
          <a:xfrm>
            <a:off x="320040" y="822960"/>
            <a:ext cx="201168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2011680" cy="64008"/>
          </a:xfrm>
          <a:prstGeom prst="rect">
            <a:avLst/>
          </a:prstGeom>
          <a:solidFill>
            <a:srgbClr val="00796B"/>
          </a:solidFill>
          <a:ln/>
        </p:spPr>
      </p:sp>
      <p:sp>
        <p:nvSpPr>
          <p:cNvPr id="6" name="Text 4"/>
          <p:cNvSpPr/>
          <p:nvPr/>
        </p:nvSpPr>
        <p:spPr>
          <a:xfrm>
            <a:off x="320040" y="886968"/>
            <a:ext cx="2011680" cy="347472"/>
          </a:xfrm>
          <a:prstGeom prst="rect">
            <a:avLst/>
          </a:prstGeom>
          <a:noFill/>
          <a:ln/>
        </p:spPr>
        <p:txBody>
          <a:bodyPr wrap="square" lIns="0" tIns="0" rIns="0" bIns="0" rtlCol="0" anchor="ctr"/>
          <a:lstStyle/>
          <a:p>
            <a:pPr algn="ctr" indent="0" marL="0">
              <a:buNone/>
            </a:pPr>
            <a:r>
              <a:rPr lang="en-US" sz="1600" b="1" dirty="0">
                <a:solidFill>
                  <a:srgbClr val="0D1F2D"/>
                </a:solidFill>
              </a:rPr>
              <a:t>MAE</a:t>
            </a:r>
            <a:endParaRPr lang="en-US" sz="1600" dirty="0"/>
          </a:p>
        </p:txBody>
      </p:sp>
      <p:sp>
        <p:nvSpPr>
          <p:cNvPr id="7" name="Shape 5"/>
          <p:cNvSpPr/>
          <p:nvPr/>
        </p:nvSpPr>
        <p:spPr>
          <a:xfrm>
            <a:off x="429768" y="1325880"/>
            <a:ext cx="1792224" cy="594360"/>
          </a:xfrm>
          <a:prstGeom prst="rect">
            <a:avLst/>
          </a:prstGeom>
          <a:solidFill>
            <a:srgbClr val="00796B"/>
          </a:solidFill>
          <a:ln/>
        </p:spPr>
      </p:sp>
      <p:sp>
        <p:nvSpPr>
          <p:cNvPr id="8" name="Text 6"/>
          <p:cNvSpPr/>
          <p:nvPr/>
        </p:nvSpPr>
        <p:spPr>
          <a:xfrm>
            <a:off x="429768" y="1325880"/>
            <a:ext cx="1792224" cy="594360"/>
          </a:xfrm>
          <a:prstGeom prst="rect">
            <a:avLst/>
          </a:prstGeom>
          <a:noFill/>
          <a:ln/>
        </p:spPr>
        <p:txBody>
          <a:bodyPr wrap="square" lIns="0" tIns="0" rIns="0" bIns="0" rtlCol="0" anchor="ctr"/>
          <a:lstStyle/>
          <a:p>
            <a:pPr algn="ctr" indent="0" marL="0">
              <a:buNone/>
            </a:pPr>
            <a:r>
              <a:rPr lang="en-US" sz="1700" b="1" dirty="0">
                <a:solidFill>
                  <a:srgbClr val="FFFFFF"/>
                </a:solidFill>
              </a:rPr>
              <a:t>CNN  104.91</a:t>
            </a:r>
            <a:endParaRPr lang="en-US" sz="1700" dirty="0"/>
          </a:p>
        </p:txBody>
      </p:sp>
      <p:sp>
        <p:nvSpPr>
          <p:cNvPr id="9" name="Shape 7"/>
          <p:cNvSpPr/>
          <p:nvPr/>
        </p:nvSpPr>
        <p:spPr>
          <a:xfrm>
            <a:off x="429768" y="1984248"/>
            <a:ext cx="1792224" cy="502920"/>
          </a:xfrm>
          <a:prstGeom prst="rect">
            <a:avLst/>
          </a:prstGeom>
          <a:solidFill>
            <a:srgbClr val="37474F"/>
          </a:solidFill>
          <a:ln/>
        </p:spPr>
      </p:sp>
      <p:sp>
        <p:nvSpPr>
          <p:cNvPr id="10" name="Text 8"/>
          <p:cNvSpPr/>
          <p:nvPr/>
        </p:nvSpPr>
        <p:spPr>
          <a:xfrm>
            <a:off x="429768" y="1984248"/>
            <a:ext cx="1792224" cy="502920"/>
          </a:xfrm>
          <a:prstGeom prst="rect">
            <a:avLst/>
          </a:prstGeom>
          <a:noFill/>
          <a:ln/>
        </p:spPr>
        <p:txBody>
          <a:bodyPr wrap="square" lIns="0" tIns="0" rIns="0" bIns="0" rtlCol="0" anchor="ctr"/>
          <a:lstStyle/>
          <a:p>
            <a:pPr algn="ctr" indent="0" marL="0">
              <a:buNone/>
            </a:pPr>
            <a:r>
              <a:rPr lang="en-US" sz="1300" dirty="0">
                <a:solidFill>
                  <a:srgbClr val="B0BEC5"/>
                </a:solidFill>
              </a:rPr>
              <a:t>MNet  149.85</a:t>
            </a:r>
            <a:endParaRPr lang="en-US" sz="1300" dirty="0"/>
          </a:p>
        </p:txBody>
      </p:sp>
      <p:sp>
        <p:nvSpPr>
          <p:cNvPr id="11" name="Text 9"/>
          <p:cNvSpPr/>
          <p:nvPr/>
        </p:nvSpPr>
        <p:spPr>
          <a:xfrm>
            <a:off x="320040" y="2542032"/>
            <a:ext cx="2011680" cy="256032"/>
          </a:xfrm>
          <a:prstGeom prst="rect">
            <a:avLst/>
          </a:prstGeom>
          <a:noFill/>
          <a:ln/>
        </p:spPr>
        <p:txBody>
          <a:bodyPr wrap="square" lIns="0" tIns="0" rIns="0" bIns="0" rtlCol="0" anchor="ctr"/>
          <a:lstStyle/>
          <a:p>
            <a:pPr algn="ctr" indent="0" marL="0">
              <a:buNone/>
            </a:pPr>
            <a:r>
              <a:rPr lang="en-US" sz="1000" dirty="0">
                <a:solidFill>
                  <a:srgbClr val="546E7A"/>
                </a:solidFill>
              </a:rPr>
              <a:t>kcal</a:t>
            </a:r>
            <a:endParaRPr lang="en-US" sz="1000" dirty="0"/>
          </a:p>
        </p:txBody>
      </p:sp>
      <p:pic>
        <p:nvPicPr>
          <p:cNvPr id="12" name="Image 0" descr="preencoded.png">    </p:cNvPr>
          <p:cNvPicPr>
            <a:picLocks noChangeAspect="1"/>
          </p:cNvPicPr>
          <p:nvPr/>
        </p:nvPicPr>
        <p:blipFill>
          <a:blip r:embed="rId1"/>
          <a:stretch>
            <a:fillRect/>
          </a:stretch>
        </p:blipFill>
        <p:spPr>
          <a:xfrm>
            <a:off x="1819656" y="896112"/>
            <a:ext cx="274320" cy="274320"/>
          </a:xfrm>
          <a:prstGeom prst="rect">
            <a:avLst/>
          </a:prstGeom>
        </p:spPr>
      </p:pic>
      <p:sp>
        <p:nvSpPr>
          <p:cNvPr id="13" name="Shape 10"/>
          <p:cNvSpPr/>
          <p:nvPr/>
        </p:nvSpPr>
        <p:spPr>
          <a:xfrm>
            <a:off x="2468880" y="822960"/>
            <a:ext cx="201168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1"/>
          <p:cNvSpPr/>
          <p:nvPr/>
        </p:nvSpPr>
        <p:spPr>
          <a:xfrm>
            <a:off x="2468880" y="822960"/>
            <a:ext cx="2011680" cy="64008"/>
          </a:xfrm>
          <a:prstGeom prst="rect">
            <a:avLst/>
          </a:prstGeom>
          <a:solidFill>
            <a:srgbClr val="00796B"/>
          </a:solidFill>
          <a:ln/>
        </p:spPr>
      </p:sp>
      <p:sp>
        <p:nvSpPr>
          <p:cNvPr id="15" name="Text 12"/>
          <p:cNvSpPr/>
          <p:nvPr/>
        </p:nvSpPr>
        <p:spPr>
          <a:xfrm>
            <a:off x="2468880" y="886968"/>
            <a:ext cx="2011680" cy="347472"/>
          </a:xfrm>
          <a:prstGeom prst="rect">
            <a:avLst/>
          </a:prstGeom>
          <a:noFill/>
          <a:ln/>
        </p:spPr>
        <p:txBody>
          <a:bodyPr wrap="square" lIns="0" tIns="0" rIns="0" bIns="0" rtlCol="0" anchor="ctr"/>
          <a:lstStyle/>
          <a:p>
            <a:pPr algn="ctr" indent="0" marL="0">
              <a:buNone/>
            </a:pPr>
            <a:r>
              <a:rPr lang="en-US" sz="1600" b="1" dirty="0">
                <a:solidFill>
                  <a:srgbClr val="0D1F2D"/>
                </a:solidFill>
              </a:rPr>
              <a:t>RMSE</a:t>
            </a:r>
            <a:endParaRPr lang="en-US" sz="1600" dirty="0"/>
          </a:p>
        </p:txBody>
      </p:sp>
      <p:sp>
        <p:nvSpPr>
          <p:cNvPr id="16" name="Shape 13"/>
          <p:cNvSpPr/>
          <p:nvPr/>
        </p:nvSpPr>
        <p:spPr>
          <a:xfrm>
            <a:off x="2578608" y="1325880"/>
            <a:ext cx="1792224" cy="594360"/>
          </a:xfrm>
          <a:prstGeom prst="rect">
            <a:avLst/>
          </a:prstGeom>
          <a:solidFill>
            <a:srgbClr val="00796B"/>
          </a:solidFill>
          <a:ln/>
        </p:spPr>
      </p:sp>
      <p:sp>
        <p:nvSpPr>
          <p:cNvPr id="17" name="Text 14"/>
          <p:cNvSpPr/>
          <p:nvPr/>
        </p:nvSpPr>
        <p:spPr>
          <a:xfrm>
            <a:off x="2578608" y="1325880"/>
            <a:ext cx="1792224" cy="594360"/>
          </a:xfrm>
          <a:prstGeom prst="rect">
            <a:avLst/>
          </a:prstGeom>
          <a:noFill/>
          <a:ln/>
        </p:spPr>
        <p:txBody>
          <a:bodyPr wrap="square" lIns="0" tIns="0" rIns="0" bIns="0" rtlCol="0" anchor="ctr"/>
          <a:lstStyle/>
          <a:p>
            <a:pPr algn="ctr" indent="0" marL="0">
              <a:buNone/>
            </a:pPr>
            <a:r>
              <a:rPr lang="en-US" sz="1700" b="1" dirty="0">
                <a:solidFill>
                  <a:srgbClr val="FFFFFF"/>
                </a:solidFill>
              </a:rPr>
              <a:t>CNN  142.45</a:t>
            </a:r>
            <a:endParaRPr lang="en-US" sz="1700" dirty="0"/>
          </a:p>
        </p:txBody>
      </p:sp>
      <p:sp>
        <p:nvSpPr>
          <p:cNvPr id="18" name="Shape 15"/>
          <p:cNvSpPr/>
          <p:nvPr/>
        </p:nvSpPr>
        <p:spPr>
          <a:xfrm>
            <a:off x="2578608" y="1984248"/>
            <a:ext cx="1792224" cy="502920"/>
          </a:xfrm>
          <a:prstGeom prst="rect">
            <a:avLst/>
          </a:prstGeom>
          <a:solidFill>
            <a:srgbClr val="37474F"/>
          </a:solidFill>
          <a:ln/>
        </p:spPr>
      </p:sp>
      <p:sp>
        <p:nvSpPr>
          <p:cNvPr id="19" name="Text 16"/>
          <p:cNvSpPr/>
          <p:nvPr/>
        </p:nvSpPr>
        <p:spPr>
          <a:xfrm>
            <a:off x="2578608" y="1984248"/>
            <a:ext cx="1792224" cy="502920"/>
          </a:xfrm>
          <a:prstGeom prst="rect">
            <a:avLst/>
          </a:prstGeom>
          <a:noFill/>
          <a:ln/>
        </p:spPr>
        <p:txBody>
          <a:bodyPr wrap="square" lIns="0" tIns="0" rIns="0" bIns="0" rtlCol="0" anchor="ctr"/>
          <a:lstStyle/>
          <a:p>
            <a:pPr algn="ctr" indent="0" marL="0">
              <a:buNone/>
            </a:pPr>
            <a:r>
              <a:rPr lang="en-US" sz="1300" dirty="0">
                <a:solidFill>
                  <a:srgbClr val="B0BEC5"/>
                </a:solidFill>
              </a:rPr>
              <a:t>MNet  199.56</a:t>
            </a:r>
            <a:endParaRPr lang="en-US" sz="1300" dirty="0"/>
          </a:p>
        </p:txBody>
      </p:sp>
      <p:sp>
        <p:nvSpPr>
          <p:cNvPr id="20" name="Text 17"/>
          <p:cNvSpPr/>
          <p:nvPr/>
        </p:nvSpPr>
        <p:spPr>
          <a:xfrm>
            <a:off x="2468880" y="2542032"/>
            <a:ext cx="2011680" cy="256032"/>
          </a:xfrm>
          <a:prstGeom prst="rect">
            <a:avLst/>
          </a:prstGeom>
          <a:noFill/>
          <a:ln/>
        </p:spPr>
        <p:txBody>
          <a:bodyPr wrap="square" lIns="0" tIns="0" rIns="0" bIns="0" rtlCol="0" anchor="ctr"/>
          <a:lstStyle/>
          <a:p>
            <a:pPr algn="ctr" indent="0" marL="0">
              <a:buNone/>
            </a:pPr>
            <a:r>
              <a:rPr lang="en-US" sz="1000" dirty="0">
                <a:solidFill>
                  <a:srgbClr val="546E7A"/>
                </a:solidFill>
              </a:rPr>
              <a:t>kcal</a:t>
            </a:r>
            <a:endParaRPr lang="en-US" sz="1000" dirty="0"/>
          </a:p>
        </p:txBody>
      </p:sp>
      <p:pic>
        <p:nvPicPr>
          <p:cNvPr id="21" name="Image 1" descr="preencoded.png">    </p:cNvPr>
          <p:cNvPicPr>
            <a:picLocks noChangeAspect="1"/>
          </p:cNvPicPr>
          <p:nvPr/>
        </p:nvPicPr>
        <p:blipFill>
          <a:blip r:embed="rId2"/>
          <a:stretch>
            <a:fillRect/>
          </a:stretch>
        </p:blipFill>
        <p:spPr>
          <a:xfrm>
            <a:off x="3968496" y="896112"/>
            <a:ext cx="274320" cy="274320"/>
          </a:xfrm>
          <a:prstGeom prst="rect">
            <a:avLst/>
          </a:prstGeom>
        </p:spPr>
      </p:pic>
      <p:sp>
        <p:nvSpPr>
          <p:cNvPr id="22" name="Shape 18"/>
          <p:cNvSpPr/>
          <p:nvPr/>
        </p:nvSpPr>
        <p:spPr>
          <a:xfrm>
            <a:off x="4617720" y="822960"/>
            <a:ext cx="201168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3" name="Shape 19"/>
          <p:cNvSpPr/>
          <p:nvPr/>
        </p:nvSpPr>
        <p:spPr>
          <a:xfrm>
            <a:off x="4617720" y="822960"/>
            <a:ext cx="2011680" cy="64008"/>
          </a:xfrm>
          <a:prstGeom prst="rect">
            <a:avLst/>
          </a:prstGeom>
          <a:solidFill>
            <a:srgbClr val="00796B"/>
          </a:solidFill>
          <a:ln/>
        </p:spPr>
      </p:sp>
      <p:sp>
        <p:nvSpPr>
          <p:cNvPr id="24" name="Text 20"/>
          <p:cNvSpPr/>
          <p:nvPr/>
        </p:nvSpPr>
        <p:spPr>
          <a:xfrm>
            <a:off x="4617720" y="886968"/>
            <a:ext cx="2011680" cy="347472"/>
          </a:xfrm>
          <a:prstGeom prst="rect">
            <a:avLst/>
          </a:prstGeom>
          <a:noFill/>
          <a:ln/>
        </p:spPr>
        <p:txBody>
          <a:bodyPr wrap="square" lIns="0" tIns="0" rIns="0" bIns="0" rtlCol="0" anchor="ctr"/>
          <a:lstStyle/>
          <a:p>
            <a:pPr algn="ctr" indent="0" marL="0">
              <a:buNone/>
            </a:pPr>
            <a:r>
              <a:rPr lang="en-US" sz="1600" b="1" dirty="0">
                <a:solidFill>
                  <a:srgbClr val="0D1F2D"/>
                </a:solidFill>
              </a:rPr>
              <a:t>R²</a:t>
            </a:r>
            <a:endParaRPr lang="en-US" sz="1600" dirty="0"/>
          </a:p>
        </p:txBody>
      </p:sp>
      <p:sp>
        <p:nvSpPr>
          <p:cNvPr id="25" name="Shape 21"/>
          <p:cNvSpPr/>
          <p:nvPr/>
        </p:nvSpPr>
        <p:spPr>
          <a:xfrm>
            <a:off x="4727448" y="1325880"/>
            <a:ext cx="1792224" cy="594360"/>
          </a:xfrm>
          <a:prstGeom prst="rect">
            <a:avLst/>
          </a:prstGeom>
          <a:solidFill>
            <a:srgbClr val="00796B"/>
          </a:solidFill>
          <a:ln/>
        </p:spPr>
      </p:sp>
      <p:sp>
        <p:nvSpPr>
          <p:cNvPr id="26" name="Text 22"/>
          <p:cNvSpPr/>
          <p:nvPr/>
        </p:nvSpPr>
        <p:spPr>
          <a:xfrm>
            <a:off x="4727448" y="1325880"/>
            <a:ext cx="1792224" cy="594360"/>
          </a:xfrm>
          <a:prstGeom prst="rect">
            <a:avLst/>
          </a:prstGeom>
          <a:noFill/>
          <a:ln/>
        </p:spPr>
        <p:txBody>
          <a:bodyPr wrap="square" lIns="0" tIns="0" rIns="0" bIns="0" rtlCol="0" anchor="ctr"/>
          <a:lstStyle/>
          <a:p>
            <a:pPr algn="ctr" indent="0" marL="0">
              <a:buNone/>
            </a:pPr>
            <a:r>
              <a:rPr lang="en-US" sz="1700" b="1" dirty="0">
                <a:solidFill>
                  <a:srgbClr val="FFFFFF"/>
                </a:solidFill>
              </a:rPr>
              <a:t>CNN  0.604</a:t>
            </a:r>
            <a:endParaRPr lang="en-US" sz="1700" dirty="0"/>
          </a:p>
        </p:txBody>
      </p:sp>
      <p:sp>
        <p:nvSpPr>
          <p:cNvPr id="27" name="Shape 23"/>
          <p:cNvSpPr/>
          <p:nvPr/>
        </p:nvSpPr>
        <p:spPr>
          <a:xfrm>
            <a:off x="4727448" y="1984248"/>
            <a:ext cx="1792224" cy="502920"/>
          </a:xfrm>
          <a:prstGeom prst="rect">
            <a:avLst/>
          </a:prstGeom>
          <a:solidFill>
            <a:srgbClr val="37474F"/>
          </a:solidFill>
          <a:ln/>
        </p:spPr>
      </p:sp>
      <p:sp>
        <p:nvSpPr>
          <p:cNvPr id="28" name="Text 24"/>
          <p:cNvSpPr/>
          <p:nvPr/>
        </p:nvSpPr>
        <p:spPr>
          <a:xfrm>
            <a:off x="4727448" y="1984248"/>
            <a:ext cx="1792224" cy="502920"/>
          </a:xfrm>
          <a:prstGeom prst="rect">
            <a:avLst/>
          </a:prstGeom>
          <a:noFill/>
          <a:ln/>
        </p:spPr>
        <p:txBody>
          <a:bodyPr wrap="square" lIns="0" tIns="0" rIns="0" bIns="0" rtlCol="0" anchor="ctr"/>
          <a:lstStyle/>
          <a:p>
            <a:pPr algn="ctr" indent="0" marL="0">
              <a:buNone/>
            </a:pPr>
            <a:r>
              <a:rPr lang="en-US" sz="1300" dirty="0">
                <a:solidFill>
                  <a:srgbClr val="B0BEC5"/>
                </a:solidFill>
              </a:rPr>
              <a:t>MNet  0.223</a:t>
            </a:r>
            <a:endParaRPr lang="en-US" sz="1300" dirty="0"/>
          </a:p>
        </p:txBody>
      </p:sp>
      <p:sp>
        <p:nvSpPr>
          <p:cNvPr id="29" name="Text 25"/>
          <p:cNvSpPr/>
          <p:nvPr/>
        </p:nvSpPr>
        <p:spPr>
          <a:xfrm>
            <a:off x="4617720" y="2542032"/>
            <a:ext cx="2011680" cy="256032"/>
          </a:xfrm>
          <a:prstGeom prst="rect">
            <a:avLst/>
          </a:prstGeom>
          <a:noFill/>
          <a:ln/>
        </p:spPr>
        <p:txBody>
          <a:bodyPr wrap="square" lIns="0" tIns="0" rIns="0" bIns="0" rtlCol="0" anchor="ctr"/>
          <a:lstStyle/>
          <a:p>
            <a:pPr algn="ctr" indent="0" marL="0">
              <a:buNone/>
            </a:pPr>
            <a:r>
              <a:rPr lang="en-US" sz="1000" dirty="0">
                <a:solidFill>
                  <a:srgbClr val="546E7A"/>
                </a:solidFill>
              </a:rPr>
              <a:t>score</a:t>
            </a:r>
            <a:endParaRPr lang="en-US" sz="1000" dirty="0"/>
          </a:p>
        </p:txBody>
      </p:sp>
      <p:pic>
        <p:nvPicPr>
          <p:cNvPr id="30" name="Image 2" descr="preencoded.png">    </p:cNvPr>
          <p:cNvPicPr>
            <a:picLocks noChangeAspect="1"/>
          </p:cNvPicPr>
          <p:nvPr/>
        </p:nvPicPr>
        <p:blipFill>
          <a:blip r:embed="rId3"/>
          <a:stretch>
            <a:fillRect/>
          </a:stretch>
        </p:blipFill>
        <p:spPr>
          <a:xfrm>
            <a:off x="6117336" y="896112"/>
            <a:ext cx="274320" cy="274320"/>
          </a:xfrm>
          <a:prstGeom prst="rect">
            <a:avLst/>
          </a:prstGeom>
        </p:spPr>
      </p:pic>
      <p:sp>
        <p:nvSpPr>
          <p:cNvPr id="31" name="Shape 26"/>
          <p:cNvSpPr/>
          <p:nvPr/>
        </p:nvSpPr>
        <p:spPr>
          <a:xfrm>
            <a:off x="6766560" y="822960"/>
            <a:ext cx="2011680" cy="2194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27"/>
          <p:cNvSpPr/>
          <p:nvPr/>
        </p:nvSpPr>
        <p:spPr>
          <a:xfrm>
            <a:off x="6766560" y="822960"/>
            <a:ext cx="2011680" cy="64008"/>
          </a:xfrm>
          <a:prstGeom prst="rect">
            <a:avLst/>
          </a:prstGeom>
          <a:solidFill>
            <a:srgbClr val="00796B"/>
          </a:solidFill>
          <a:ln/>
        </p:spPr>
      </p:sp>
      <p:sp>
        <p:nvSpPr>
          <p:cNvPr id="33" name="Text 28"/>
          <p:cNvSpPr/>
          <p:nvPr/>
        </p:nvSpPr>
        <p:spPr>
          <a:xfrm>
            <a:off x="6766560" y="886968"/>
            <a:ext cx="2011680" cy="347472"/>
          </a:xfrm>
          <a:prstGeom prst="rect">
            <a:avLst/>
          </a:prstGeom>
          <a:noFill/>
          <a:ln/>
        </p:spPr>
        <p:txBody>
          <a:bodyPr wrap="square" lIns="0" tIns="0" rIns="0" bIns="0" rtlCol="0" anchor="ctr"/>
          <a:lstStyle/>
          <a:p>
            <a:pPr algn="ctr" indent="0" marL="0">
              <a:buNone/>
            </a:pPr>
            <a:r>
              <a:rPr lang="en-US" sz="1600" b="1" dirty="0">
                <a:solidFill>
                  <a:srgbClr val="0D1F2D"/>
                </a:solidFill>
              </a:rPr>
              <a:t>MSE</a:t>
            </a:r>
            <a:endParaRPr lang="en-US" sz="1600" dirty="0"/>
          </a:p>
        </p:txBody>
      </p:sp>
      <p:sp>
        <p:nvSpPr>
          <p:cNvPr id="34" name="Shape 29"/>
          <p:cNvSpPr/>
          <p:nvPr/>
        </p:nvSpPr>
        <p:spPr>
          <a:xfrm>
            <a:off x="6876288" y="1325880"/>
            <a:ext cx="1792224" cy="594360"/>
          </a:xfrm>
          <a:prstGeom prst="rect">
            <a:avLst/>
          </a:prstGeom>
          <a:solidFill>
            <a:srgbClr val="00796B"/>
          </a:solidFill>
          <a:ln/>
        </p:spPr>
      </p:sp>
      <p:sp>
        <p:nvSpPr>
          <p:cNvPr id="35" name="Text 30"/>
          <p:cNvSpPr/>
          <p:nvPr/>
        </p:nvSpPr>
        <p:spPr>
          <a:xfrm>
            <a:off x="6876288" y="1325880"/>
            <a:ext cx="1792224" cy="594360"/>
          </a:xfrm>
          <a:prstGeom prst="rect">
            <a:avLst/>
          </a:prstGeom>
          <a:noFill/>
          <a:ln/>
        </p:spPr>
        <p:txBody>
          <a:bodyPr wrap="square" lIns="0" tIns="0" rIns="0" bIns="0" rtlCol="0" anchor="ctr"/>
          <a:lstStyle/>
          <a:p>
            <a:pPr algn="ctr" indent="0" marL="0">
              <a:buNone/>
            </a:pPr>
            <a:r>
              <a:rPr lang="en-US" sz="1700" b="1" dirty="0">
                <a:solidFill>
                  <a:srgbClr val="FFFFFF"/>
                </a:solidFill>
              </a:rPr>
              <a:t>CNN  20,293</a:t>
            </a:r>
            <a:endParaRPr lang="en-US" sz="1700" dirty="0"/>
          </a:p>
        </p:txBody>
      </p:sp>
      <p:sp>
        <p:nvSpPr>
          <p:cNvPr id="36" name="Shape 31"/>
          <p:cNvSpPr/>
          <p:nvPr/>
        </p:nvSpPr>
        <p:spPr>
          <a:xfrm>
            <a:off x="6876288" y="1984248"/>
            <a:ext cx="1792224" cy="502920"/>
          </a:xfrm>
          <a:prstGeom prst="rect">
            <a:avLst/>
          </a:prstGeom>
          <a:solidFill>
            <a:srgbClr val="37474F"/>
          </a:solidFill>
          <a:ln/>
        </p:spPr>
      </p:sp>
      <p:sp>
        <p:nvSpPr>
          <p:cNvPr id="37" name="Text 32"/>
          <p:cNvSpPr/>
          <p:nvPr/>
        </p:nvSpPr>
        <p:spPr>
          <a:xfrm>
            <a:off x="6876288" y="1984248"/>
            <a:ext cx="1792224" cy="502920"/>
          </a:xfrm>
          <a:prstGeom prst="rect">
            <a:avLst/>
          </a:prstGeom>
          <a:noFill/>
          <a:ln/>
        </p:spPr>
        <p:txBody>
          <a:bodyPr wrap="square" lIns="0" tIns="0" rIns="0" bIns="0" rtlCol="0" anchor="ctr"/>
          <a:lstStyle/>
          <a:p>
            <a:pPr algn="ctr" indent="0" marL="0">
              <a:buNone/>
            </a:pPr>
            <a:r>
              <a:rPr lang="en-US" sz="1300" dirty="0">
                <a:solidFill>
                  <a:srgbClr val="B0BEC5"/>
                </a:solidFill>
              </a:rPr>
              <a:t>MNet  39,825</a:t>
            </a:r>
            <a:endParaRPr lang="en-US" sz="1300" dirty="0"/>
          </a:p>
        </p:txBody>
      </p:sp>
      <p:sp>
        <p:nvSpPr>
          <p:cNvPr id="38" name="Text 33"/>
          <p:cNvSpPr/>
          <p:nvPr/>
        </p:nvSpPr>
        <p:spPr>
          <a:xfrm>
            <a:off x="6766560" y="2542032"/>
            <a:ext cx="2011680" cy="256032"/>
          </a:xfrm>
          <a:prstGeom prst="rect">
            <a:avLst/>
          </a:prstGeom>
          <a:noFill/>
          <a:ln/>
        </p:spPr>
        <p:txBody>
          <a:bodyPr wrap="square" lIns="0" tIns="0" rIns="0" bIns="0" rtlCol="0" anchor="ctr"/>
          <a:lstStyle/>
          <a:p>
            <a:pPr algn="ctr" indent="0" marL="0">
              <a:buNone/>
            </a:pPr>
            <a:r>
              <a:rPr lang="en-US" sz="1000" dirty="0">
                <a:solidFill>
                  <a:srgbClr val="546E7A"/>
                </a:solidFill>
              </a:rPr>
              <a:t>kcal²</a:t>
            </a:r>
            <a:endParaRPr lang="en-US" sz="1000" dirty="0"/>
          </a:p>
        </p:txBody>
      </p:sp>
      <p:pic>
        <p:nvPicPr>
          <p:cNvPr id="39" name="Image 3" descr="preencoded.png">    </p:cNvPr>
          <p:cNvPicPr>
            <a:picLocks noChangeAspect="1"/>
          </p:cNvPicPr>
          <p:nvPr/>
        </p:nvPicPr>
        <p:blipFill>
          <a:blip r:embed="rId4"/>
          <a:stretch>
            <a:fillRect/>
          </a:stretch>
        </p:blipFill>
        <p:spPr>
          <a:xfrm>
            <a:off x="8266176" y="896112"/>
            <a:ext cx="274320" cy="274320"/>
          </a:xfrm>
          <a:prstGeom prst="rect">
            <a:avLst/>
          </a:prstGeom>
        </p:spPr>
      </p:pic>
      <p:graphicFrame>
        <p:nvGraphicFramePr>
          <p:cNvPr id="40" name="Chart 0" descr=""/>
          <p:cNvGraphicFramePr/>
          <p:nvPr/>
        </p:nvGraphicFramePr>
        <p:xfrm>
          <a:off x="320040" y="3127248"/>
          <a:ext cx="5120640" cy="1874520"/>
        </p:xfrm>
        <a:graphic xmlns:a="http://schemas.openxmlformats.org/drawingml/2006/main">
          <a:graphicData uri="http://schemas.openxmlformats.org/drawingml/2006/chart">
            <c:chart xmlns:c="http://schemas.openxmlformats.org/drawingml/2006/chart" r:id="rId5"/>
          </a:graphicData>
        </a:graphic>
      </p:graphicFrame>
      <p:graphicFrame>
        <p:nvGraphicFramePr>
          <p:cNvPr id="41" name="Chart 1" descr=""/>
          <p:cNvGraphicFramePr/>
          <p:nvPr/>
        </p:nvGraphicFramePr>
        <p:xfrm>
          <a:off x="5577840" y="3127248"/>
          <a:ext cx="3246120" cy="1874520"/>
        </p:xfrm>
        <a:graphic xmlns:a="http://schemas.openxmlformats.org/drawingml/2006/main">
          <a:graphicData uri="http://schemas.openxmlformats.org/drawingml/2006/chart">
            <c:chart xmlns:c="http://schemas.openxmlformats.org/drawingml/2006/chart" r:id="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796B"/>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spc="300" kern="0" dirty="0">
                <a:solidFill>
                  <a:srgbClr val="FFFFFF"/>
                </a:solidFill>
              </a:rPr>
              <a:t>MODEL COMPARISON</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777240"/>
          <a:ext cx="8823960" cy="914400"/>
        </p:xfrm>
        <a:graphic>
          <a:graphicData uri="http://schemas.openxmlformats.org/drawingml/2006/table">
            <a:tbl>
              <a:tblPr/>
              <a:tblGrid>
                <a:gridCol w="2286000"/>
                <a:gridCol w="2103120"/>
                <a:gridCol w="2103120"/>
                <a:gridCol w="2331720"/>
              </a:tblGrid>
              <a:tr h="512064">
                <a:tc>
                  <a:txBody>
                    <a:bodyPr/>
                    <a:lstStyle/>
                    <a:p>
                      <a:pPr algn="l" indent="0" marL="0">
                        <a:buNone/>
                      </a:pPr>
                      <a:r>
                        <a:rPr lang="en-US" sz="1100" b="1" dirty="0">
                          <a:solidFill>
                            <a:srgbClr val="FFFFFF"/>
                          </a:solidFill>
                        </a:rPr>
                        <a:t>Criterion</a:t>
                      </a:r>
                      <a:endParaRPr lang="en-US" sz="11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37474F"/>
                    </a:solidFill>
                  </a:tcPr>
                </a:tc>
                <a:tc>
                  <a:txBody>
                    <a:bodyPr/>
                    <a:lstStyle/>
                    <a:p>
                      <a:pPr algn="ctr" indent="0" marL="0">
                        <a:buNone/>
                      </a:pPr>
                      <a:r>
                        <a:rPr lang="en-US" sz="1100" b="1" dirty="0">
                          <a:solidFill>
                            <a:srgbClr val="FFFFFF"/>
                          </a:solidFill>
                        </a:rPr>
                        <a:t>CNN from Scratch</a:t>
                      </a:r>
                      <a:endParaRPr lang="en-US" sz="11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37474F"/>
                    </a:solidFill>
                  </a:tcPr>
                </a:tc>
                <a:tc>
                  <a:txBody>
                    <a:bodyPr/>
                    <a:lstStyle/>
                    <a:p>
                      <a:pPr algn="ctr" indent="0" marL="0">
                        <a:buNone/>
                      </a:pPr>
                      <a:r>
                        <a:rPr lang="en-US" sz="1100" b="1" dirty="0">
                          <a:solidFill>
                            <a:srgbClr val="FFFFFF"/>
                          </a:solidFill>
                        </a:rPr>
                        <a:t>MobileNetV2 TL</a:t>
                      </a:r>
                      <a:endParaRPr lang="en-US" sz="11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37474F"/>
                    </a:solidFill>
                  </a:tcPr>
                </a:tc>
                <a:tc>
                  <a:txBody>
                    <a:bodyPr/>
                    <a:lstStyle/>
                    <a:p>
                      <a:pPr algn="ctr" indent="0" marL="0">
                        <a:buNone/>
                      </a:pPr>
                      <a:r>
                        <a:rPr lang="en-US" sz="1100" b="1" dirty="0">
                          <a:solidFill>
                            <a:srgbClr val="FFFFFF"/>
                          </a:solidFill>
                        </a:rPr>
                        <a:t>Winner</a:t>
                      </a:r>
                      <a:endParaRPr lang="en-US" sz="11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37474F"/>
                    </a:solidFill>
                  </a:tcPr>
                </a:tc>
              </a:tr>
              <a:tr h="512064">
                <a:tc>
                  <a:txBody>
                    <a:bodyPr/>
                    <a:lstStyle/>
                    <a:p>
                      <a:pPr algn="l" indent="0" marL="0">
                        <a:buNone/>
                      </a:pPr>
                      <a:r>
                        <a:rPr lang="en-US" sz="1200" dirty="0">
                          <a:solidFill>
                            <a:srgbClr val="CCCCCC"/>
                          </a:solidFill>
                        </a:rPr>
                        <a:t>Parameters</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dirty="0">
                          <a:solidFill>
                            <a:srgbClr val="CCCCCC"/>
                          </a:solidFill>
                        </a:rPr>
                        <a:t>26,145,793</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dirty="0">
                          <a:solidFill>
                            <a:srgbClr val="CCCCCC"/>
                          </a:solidFill>
                        </a:rPr>
                        <a:t>1,854,273</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b="1" dirty="0">
                          <a:solidFill>
                            <a:srgbClr val="AAAAAA"/>
                          </a:solidFill>
                        </a:rPr>
                        <a:t>MobileNetV2 (14× fewer)</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r>
              <a:tr h="512064">
                <a:tc>
                  <a:txBody>
                    <a:bodyPr/>
                    <a:lstStyle/>
                    <a:p>
                      <a:pPr algn="l" indent="0" marL="0">
                        <a:buNone/>
                      </a:pPr>
                      <a:r>
                        <a:rPr lang="en-US" sz="1200" dirty="0">
                          <a:solidFill>
                            <a:srgbClr val="CCCCCC"/>
                          </a:solidFill>
                        </a:rPr>
                        <a:t>Training Time</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dirty="0">
                          <a:solidFill>
                            <a:srgbClr val="CCCCCC"/>
                          </a:solidFill>
                        </a:rPr>
                        <a:t>166.24 s</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dirty="0">
                          <a:solidFill>
                            <a:srgbClr val="CCCCCC"/>
                          </a:solidFill>
                        </a:rPr>
                        <a:t>125.46 s</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b="1" dirty="0">
                          <a:solidFill>
                            <a:srgbClr val="AAAAAA"/>
                          </a:solidFill>
                        </a:rPr>
                        <a:t>MobileNetV2 (faster)</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r>
              <a:tr h="512064">
                <a:tc>
                  <a:txBody>
                    <a:bodyPr/>
                    <a:lstStyle/>
                    <a:p>
                      <a:pPr algn="l" indent="0" marL="0">
                        <a:buNone/>
                      </a:pPr>
                      <a:r>
                        <a:rPr lang="en-US" sz="1200" dirty="0">
                          <a:solidFill>
                            <a:srgbClr val="CCCCCC"/>
                          </a:solidFill>
                        </a:rPr>
                        <a:t>MAE (kcal)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b="1" dirty="0">
                          <a:solidFill>
                            <a:srgbClr val="4DB6AC"/>
                          </a:solidFill>
                        </a:rPr>
                        <a:t>104.91</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dirty="0">
                          <a:solidFill>
                            <a:srgbClr val="CCCCCC"/>
                          </a:solidFill>
                        </a:rPr>
                        <a:t>149.85</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b="1" dirty="0">
                          <a:solidFill>
                            <a:srgbClr val="4DB6AC"/>
                          </a:solidFill>
                        </a:rPr>
                        <a:t>CNN Scratch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r>
              <a:tr h="512064">
                <a:tc>
                  <a:txBody>
                    <a:bodyPr/>
                    <a:lstStyle/>
                    <a:p>
                      <a:pPr algn="l" indent="0" marL="0">
                        <a:buNone/>
                      </a:pPr>
                      <a:r>
                        <a:rPr lang="en-US" sz="1200" dirty="0">
                          <a:solidFill>
                            <a:srgbClr val="CCCCCC"/>
                          </a:solidFill>
                        </a:rPr>
                        <a:t>MSE (kcal²)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b="1" dirty="0">
                          <a:solidFill>
                            <a:srgbClr val="4DB6AC"/>
                          </a:solidFill>
                        </a:rPr>
                        <a:t>20,293</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dirty="0">
                          <a:solidFill>
                            <a:srgbClr val="CCCCCC"/>
                          </a:solidFill>
                        </a:rPr>
                        <a:t>39,825</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b="1" dirty="0">
                          <a:solidFill>
                            <a:srgbClr val="4DB6AC"/>
                          </a:solidFill>
                        </a:rPr>
                        <a:t>CNN Scratch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r>
              <a:tr h="512064">
                <a:tc>
                  <a:txBody>
                    <a:bodyPr/>
                    <a:lstStyle/>
                    <a:p>
                      <a:pPr algn="l" indent="0" marL="0">
                        <a:buNone/>
                      </a:pPr>
                      <a:r>
                        <a:rPr lang="en-US" sz="1200" dirty="0">
                          <a:solidFill>
                            <a:srgbClr val="CCCCCC"/>
                          </a:solidFill>
                        </a:rPr>
                        <a:t>RMSE (kcal)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b="1" dirty="0">
                          <a:solidFill>
                            <a:srgbClr val="4DB6AC"/>
                          </a:solidFill>
                        </a:rPr>
                        <a:t>142.45</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dirty="0">
                          <a:solidFill>
                            <a:srgbClr val="CCCCCC"/>
                          </a:solidFill>
                        </a:rPr>
                        <a:t>199.56</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c>
                  <a:txBody>
                    <a:bodyPr/>
                    <a:lstStyle/>
                    <a:p>
                      <a:pPr algn="ctr" indent="0" marL="0">
                        <a:buNone/>
                      </a:pPr>
                      <a:r>
                        <a:rPr lang="en-US" sz="1200" b="1" dirty="0">
                          <a:solidFill>
                            <a:srgbClr val="4DB6AC"/>
                          </a:solidFill>
                        </a:rPr>
                        <a:t>CNN Scratch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32230"/>
                    </a:solidFill>
                  </a:tcPr>
                </a:tc>
              </a:tr>
              <a:tr h="512064">
                <a:tc>
                  <a:txBody>
                    <a:bodyPr/>
                    <a:lstStyle/>
                    <a:p>
                      <a:pPr algn="l" indent="0" marL="0">
                        <a:buNone/>
                      </a:pPr>
                      <a:r>
                        <a:rPr lang="en-US" sz="1200" dirty="0">
                          <a:solidFill>
                            <a:srgbClr val="CCCCCC"/>
                          </a:solidFill>
                        </a:rPr>
                        <a:t>R² Score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b="1" dirty="0">
                          <a:solidFill>
                            <a:srgbClr val="4DB6AC"/>
                          </a:solidFill>
                        </a:rPr>
                        <a:t>0.604</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dirty="0">
                          <a:solidFill>
                            <a:srgbClr val="CCCCCC"/>
                          </a:solidFill>
                        </a:rPr>
                        <a:t>0.223</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c>
                  <a:txBody>
                    <a:bodyPr/>
                    <a:lstStyle/>
                    <a:p>
                      <a:pPr algn="ctr" indent="0" marL="0">
                        <a:buNone/>
                      </a:pPr>
                      <a:r>
                        <a:rPr lang="en-US" sz="1200" b="1" dirty="0">
                          <a:solidFill>
                            <a:srgbClr val="4DB6AC"/>
                          </a:solidFill>
                        </a:rPr>
                        <a:t>CNN Scratch ✓</a:t>
                      </a:r>
                      <a:endParaRPr lang="en-US" sz="1200" dirty="0"/>
                    </a:p>
                  </a:txBody>
                  <a:tcPr marL="101600" marR="101600" marT="76200" marB="76200" anchor="ctr">
                    <a:lnL w="6350" cap="flat" cmpd="sng" algn="ctr">
                      <a:solidFill>
                        <a:srgbClr val="2A4A5E"/>
                      </a:solidFill>
                      <a:prstDash val="solid"/>
                      <a:round/>
                      <a:headEnd type="none" w="med" len="med"/>
                      <a:tailEnd type="none" w="med" len="med"/>
                    </a:lnL>
                    <a:lnR w="6350" cap="flat" cmpd="sng" algn="ctr">
                      <a:solidFill>
                        <a:srgbClr val="2A4A5E"/>
                      </a:solidFill>
                      <a:prstDash val="solid"/>
                      <a:round/>
                      <a:headEnd type="none" w="med" len="med"/>
                      <a:tailEnd type="none" w="med" len="med"/>
                    </a:lnR>
                    <a:lnT w="6350" cap="flat" cmpd="sng" algn="ctr">
                      <a:solidFill>
                        <a:srgbClr val="2A4A5E"/>
                      </a:solidFill>
                      <a:prstDash val="solid"/>
                      <a:round/>
                      <a:headEnd type="none" w="med" len="med"/>
                      <a:tailEnd type="none" w="med" len="med"/>
                    </a:lnT>
                    <a:lnB w="6350" cap="flat" cmpd="sng" algn="ctr">
                      <a:solidFill>
                        <a:srgbClr val="2A4A5E"/>
                      </a:solidFill>
                      <a:prstDash val="solid"/>
                      <a:round/>
                      <a:headEnd type="none" w="med" len="med"/>
                      <a:tailEnd type="none" w="med" len="med"/>
                    </a:lnB>
                    <a:solidFill>
                      <a:srgbClr val="1A2E3B"/>
                    </a:solidFill>
                  </a:tcPr>
                </a:tc>
              </a:tr>
            </a:tbl>
          </a:graphicData>
        </a:graphic>
      </p:graphicFrame>
      <p:sp>
        <p:nvSpPr>
          <p:cNvPr id="5" name="Shape 2"/>
          <p:cNvSpPr/>
          <p:nvPr/>
        </p:nvSpPr>
        <p:spPr>
          <a:xfrm>
            <a:off x="320040" y="4343400"/>
            <a:ext cx="8503920" cy="658368"/>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6" name="Shape 3"/>
          <p:cNvSpPr/>
          <p:nvPr/>
        </p:nvSpPr>
        <p:spPr>
          <a:xfrm>
            <a:off x="320040" y="4343400"/>
            <a:ext cx="64008" cy="658368"/>
          </a:xfrm>
          <a:prstGeom prst="rect">
            <a:avLst/>
          </a:prstGeom>
          <a:solidFill>
            <a:srgbClr val="00796B"/>
          </a:solidFill>
          <a:ln/>
        </p:spPr>
      </p:sp>
      <p:sp>
        <p:nvSpPr>
          <p:cNvPr id="7" name="Text 4"/>
          <p:cNvSpPr/>
          <p:nvPr/>
        </p:nvSpPr>
        <p:spPr>
          <a:xfrm>
            <a:off x="502920" y="4370832"/>
            <a:ext cx="8229600" cy="603504"/>
          </a:xfrm>
          <a:prstGeom prst="rect">
            <a:avLst/>
          </a:prstGeom>
          <a:noFill/>
          <a:ln/>
        </p:spPr>
        <p:txBody>
          <a:bodyPr wrap="square" rtlCol="0" anchor="ctr"/>
          <a:lstStyle/>
          <a:p>
            <a:pPr indent="0" marL="0">
              <a:buNone/>
            </a:pPr>
            <a:r>
              <a:rPr lang="en-US" sz="1100" dirty="0">
                <a:solidFill>
                  <a:srgbClr val="B0BEC5"/>
                </a:solidFill>
              </a:rPr>
              <a:t>CNN from Scratch wins on all 4 regression metrics despite having more parameters. MobileNetV2 is faster and lighter but the ImageNet classification pretraining did not transfer as effectively to the calorie regression task within the given training budget.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6F00"/>
          </a:solidFill>
          <a:ln/>
        </p:spPr>
      </p:sp>
      <p:pic>
        <p:nvPicPr>
          <p:cNvPr id="3" name="Image 0" descr="preencoded.png">    </p:cNvPr>
          <p:cNvPicPr>
            <a:picLocks noChangeAspect="1"/>
          </p:cNvPicPr>
          <p:nvPr/>
        </p:nvPicPr>
        <p:blipFill>
          <a:blip r:embed="rId1"/>
          <a:stretch>
            <a:fillRect/>
          </a:stretch>
        </p:blipFill>
        <p:spPr>
          <a:xfrm>
            <a:off x="274320" y="109728"/>
            <a:ext cx="475488" cy="475488"/>
          </a:xfrm>
          <a:prstGeom prst="rect">
            <a:avLst/>
          </a:prstGeom>
        </p:spPr>
      </p:pic>
      <p:sp>
        <p:nvSpPr>
          <p:cNvPr id="4" name="Text 1"/>
          <p:cNvSpPr/>
          <p:nvPr/>
        </p:nvSpPr>
        <p:spPr>
          <a:xfrm>
            <a:off x="868680" y="0"/>
            <a:ext cx="8046720" cy="685800"/>
          </a:xfrm>
          <a:prstGeom prst="rect">
            <a:avLst/>
          </a:prstGeom>
          <a:noFill/>
          <a:ln/>
        </p:spPr>
        <p:txBody>
          <a:bodyPr wrap="square" rtlCol="0" anchor="ctr"/>
          <a:lstStyle/>
          <a:p>
            <a:pPr indent="0" marL="0">
              <a:buNone/>
            </a:pPr>
            <a:r>
              <a:rPr lang="en-US" sz="1600" b="1" spc="100" kern="0" dirty="0">
                <a:solidFill>
                  <a:srgbClr val="FFFFFF"/>
                </a:solidFill>
              </a:rPr>
              <a:t>⭐  BONUS — STREAMLIT DEPLOYMENT  [ COMPLETED IN FULL ]</a:t>
            </a:r>
            <a:endParaRPr lang="en-US" sz="1600" dirty="0"/>
          </a:p>
        </p:txBody>
      </p:sp>
      <p:sp>
        <p:nvSpPr>
          <p:cNvPr id="5" name="Shape 2"/>
          <p:cNvSpPr/>
          <p:nvPr/>
        </p:nvSpPr>
        <p:spPr>
          <a:xfrm>
            <a:off x="320040" y="822960"/>
            <a:ext cx="2011680" cy="1600200"/>
          </a:xfrm>
          <a:prstGeom prst="rect">
            <a:avLst/>
          </a:prstGeom>
          <a:solidFill>
            <a:srgbClr val="00796B"/>
          </a:solidFill>
          <a:ln/>
          <a:effectLst>
            <a:outerShdw sx="100000" sy="100000" kx="0" ky="0" algn="bl" rotWithShape="0" blurRad="101600" dist="38100" dir="8100000">
              <a:srgbClr val="000000">
                <a:alpha val="12000"/>
              </a:srgbClr>
            </a:outerShdw>
          </a:effectLst>
        </p:spPr>
      </p:sp>
      <p:sp>
        <p:nvSpPr>
          <p:cNvPr id="6" name="Text 3"/>
          <p:cNvSpPr/>
          <p:nvPr/>
        </p:nvSpPr>
        <p:spPr>
          <a:xfrm>
            <a:off x="320040" y="868680"/>
            <a:ext cx="2011680" cy="228600"/>
          </a:xfrm>
          <a:prstGeom prst="rect">
            <a:avLst/>
          </a:prstGeom>
          <a:noFill/>
          <a:ln/>
        </p:spPr>
        <p:txBody>
          <a:bodyPr wrap="square" lIns="0" tIns="0" rIns="0" bIns="0" rtlCol="0" anchor="ctr"/>
          <a:lstStyle/>
          <a:p>
            <a:pPr algn="ctr" indent="0" marL="0">
              <a:buNone/>
            </a:pPr>
            <a:r>
              <a:rPr lang="en-US" sz="1000" dirty="0">
                <a:solidFill>
                  <a:srgbClr val="CCCCCC"/>
                </a:solidFill>
              </a:rPr>
              <a:t>Tab 1</a:t>
            </a:r>
            <a:endParaRPr lang="en-US" sz="1000" dirty="0"/>
          </a:p>
        </p:txBody>
      </p:sp>
      <p:sp>
        <p:nvSpPr>
          <p:cNvPr id="7" name="Text 4"/>
          <p:cNvSpPr/>
          <p:nvPr/>
        </p:nvSpPr>
        <p:spPr>
          <a:xfrm>
            <a:off x="320040" y="107899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rPr>
              <a:t>Overview</a:t>
            </a:r>
            <a:endParaRPr lang="en-US" sz="1200" dirty="0"/>
          </a:p>
        </p:txBody>
      </p:sp>
      <p:sp>
        <p:nvSpPr>
          <p:cNvPr id="8" name="Text 5"/>
          <p:cNvSpPr/>
          <p:nvPr/>
        </p:nvSpPr>
        <p:spPr>
          <a:xfrm>
            <a:off x="411480" y="1481328"/>
            <a:ext cx="1828800" cy="877824"/>
          </a:xfrm>
          <a:prstGeom prst="rect">
            <a:avLst/>
          </a:prstGeom>
          <a:noFill/>
          <a:ln/>
        </p:spPr>
        <p:txBody>
          <a:bodyPr wrap="square" lIns="0" tIns="0" rIns="0" bIns="0" rtlCol="0" anchor="ctr"/>
          <a:lstStyle/>
          <a:p>
            <a:pPr indent="0" marL="0">
              <a:buNone/>
            </a:pPr>
            <a:r>
              <a:rPr lang="en-US" sz="950" dirty="0">
                <a:solidFill>
                  <a:srgbClr val="D0D0D0"/>
                </a:solidFill>
              </a:rPr>
              <a:t>Project description, architecture summary, GitHub link</a:t>
            </a:r>
            <a:endParaRPr lang="en-US" sz="950" dirty="0"/>
          </a:p>
        </p:txBody>
      </p:sp>
      <p:sp>
        <p:nvSpPr>
          <p:cNvPr id="9" name="Shape 6"/>
          <p:cNvSpPr/>
          <p:nvPr/>
        </p:nvSpPr>
        <p:spPr>
          <a:xfrm>
            <a:off x="2468880" y="822960"/>
            <a:ext cx="2011680" cy="1600200"/>
          </a:xfrm>
          <a:prstGeom prst="rect">
            <a:avLst/>
          </a:prstGeom>
          <a:solidFill>
            <a:srgbClr val="1A6B5F"/>
          </a:solidFill>
          <a:ln/>
          <a:effectLst>
            <a:outerShdw sx="100000" sy="100000" kx="0" ky="0" algn="bl" rotWithShape="0" blurRad="101600" dist="38100" dir="8100000">
              <a:srgbClr val="000000">
                <a:alpha val="12000"/>
              </a:srgbClr>
            </a:outerShdw>
          </a:effectLst>
        </p:spPr>
      </p:sp>
      <p:sp>
        <p:nvSpPr>
          <p:cNvPr id="10" name="Text 7"/>
          <p:cNvSpPr/>
          <p:nvPr/>
        </p:nvSpPr>
        <p:spPr>
          <a:xfrm>
            <a:off x="2468880" y="868680"/>
            <a:ext cx="2011680" cy="228600"/>
          </a:xfrm>
          <a:prstGeom prst="rect">
            <a:avLst/>
          </a:prstGeom>
          <a:noFill/>
          <a:ln/>
        </p:spPr>
        <p:txBody>
          <a:bodyPr wrap="square" lIns="0" tIns="0" rIns="0" bIns="0" rtlCol="0" anchor="ctr"/>
          <a:lstStyle/>
          <a:p>
            <a:pPr algn="ctr" indent="0" marL="0">
              <a:buNone/>
            </a:pPr>
            <a:r>
              <a:rPr lang="en-US" sz="1000" dirty="0">
                <a:solidFill>
                  <a:srgbClr val="CCCCCC"/>
                </a:solidFill>
              </a:rPr>
              <a:t>Tab 2</a:t>
            </a:r>
            <a:endParaRPr lang="en-US" sz="1000" dirty="0"/>
          </a:p>
        </p:txBody>
      </p:sp>
      <p:sp>
        <p:nvSpPr>
          <p:cNvPr id="11" name="Text 8"/>
          <p:cNvSpPr/>
          <p:nvPr/>
        </p:nvSpPr>
        <p:spPr>
          <a:xfrm>
            <a:off x="2468880" y="107899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rPr>
              <a:t>Metrics &amp; Curves</a:t>
            </a:r>
            <a:endParaRPr lang="en-US" sz="1200" dirty="0"/>
          </a:p>
        </p:txBody>
      </p:sp>
      <p:sp>
        <p:nvSpPr>
          <p:cNvPr id="12" name="Text 9"/>
          <p:cNvSpPr/>
          <p:nvPr/>
        </p:nvSpPr>
        <p:spPr>
          <a:xfrm>
            <a:off x="2560320" y="1481328"/>
            <a:ext cx="1828800" cy="877824"/>
          </a:xfrm>
          <a:prstGeom prst="rect">
            <a:avLst/>
          </a:prstGeom>
          <a:noFill/>
          <a:ln/>
        </p:spPr>
        <p:txBody>
          <a:bodyPr wrap="square" lIns="0" tIns="0" rIns="0" bIns="0" rtlCol="0" anchor="ctr"/>
          <a:lstStyle/>
          <a:p>
            <a:pPr indent="0" marL="0">
              <a:buNone/>
            </a:pPr>
            <a:r>
              <a:rPr lang="en-US" sz="950" dirty="0">
                <a:solidFill>
                  <a:srgbClr val="D0D0D0"/>
                </a:solidFill>
              </a:rPr>
              <a:t>Comparison table + bar charts of MAE, RMSE, R² for both models</a:t>
            </a:r>
            <a:endParaRPr lang="en-US" sz="950" dirty="0"/>
          </a:p>
        </p:txBody>
      </p:sp>
      <p:sp>
        <p:nvSpPr>
          <p:cNvPr id="13" name="Shape 10"/>
          <p:cNvSpPr/>
          <p:nvPr/>
        </p:nvSpPr>
        <p:spPr>
          <a:xfrm>
            <a:off x="4617720" y="822960"/>
            <a:ext cx="2011680" cy="160020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4" name="Text 11"/>
          <p:cNvSpPr/>
          <p:nvPr/>
        </p:nvSpPr>
        <p:spPr>
          <a:xfrm>
            <a:off x="4617720" y="868680"/>
            <a:ext cx="2011680" cy="228600"/>
          </a:xfrm>
          <a:prstGeom prst="rect">
            <a:avLst/>
          </a:prstGeom>
          <a:noFill/>
          <a:ln/>
        </p:spPr>
        <p:txBody>
          <a:bodyPr wrap="square" lIns="0" tIns="0" rIns="0" bIns="0" rtlCol="0" anchor="ctr"/>
          <a:lstStyle/>
          <a:p>
            <a:pPr algn="ctr" indent="0" marL="0">
              <a:buNone/>
            </a:pPr>
            <a:r>
              <a:rPr lang="en-US" sz="1000" dirty="0">
                <a:solidFill>
                  <a:srgbClr val="CCCCCC"/>
                </a:solidFill>
              </a:rPr>
              <a:t>Tab 3</a:t>
            </a:r>
            <a:endParaRPr lang="en-US" sz="1000" dirty="0"/>
          </a:p>
        </p:txBody>
      </p:sp>
      <p:sp>
        <p:nvSpPr>
          <p:cNvPr id="15" name="Text 12"/>
          <p:cNvSpPr/>
          <p:nvPr/>
        </p:nvSpPr>
        <p:spPr>
          <a:xfrm>
            <a:off x="4617720" y="107899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rPr>
              <a:t>Dataset</a:t>
            </a:r>
            <a:endParaRPr lang="en-US" sz="1200" dirty="0"/>
          </a:p>
        </p:txBody>
      </p:sp>
      <p:sp>
        <p:nvSpPr>
          <p:cNvPr id="16" name="Text 13"/>
          <p:cNvSpPr/>
          <p:nvPr/>
        </p:nvSpPr>
        <p:spPr>
          <a:xfrm>
            <a:off x="4709160" y="1481328"/>
            <a:ext cx="1828800" cy="877824"/>
          </a:xfrm>
          <a:prstGeom prst="rect">
            <a:avLst/>
          </a:prstGeom>
          <a:noFill/>
          <a:ln/>
        </p:spPr>
        <p:txBody>
          <a:bodyPr wrap="square" lIns="0" tIns="0" rIns="0" bIns="0" rtlCol="0" anchor="ctr"/>
          <a:lstStyle/>
          <a:p>
            <a:pPr indent="0" marL="0">
              <a:buNone/>
            </a:pPr>
            <a:r>
              <a:rPr lang="en-US" sz="950" dirty="0">
                <a:solidFill>
                  <a:srgbClr val="D0D0D0"/>
                </a:solidFill>
              </a:rPr>
              <a:t>Train/val/test split table + food image preview grid</a:t>
            </a:r>
            <a:endParaRPr lang="en-US" sz="950" dirty="0"/>
          </a:p>
        </p:txBody>
      </p:sp>
      <p:sp>
        <p:nvSpPr>
          <p:cNvPr id="17" name="Shape 14"/>
          <p:cNvSpPr/>
          <p:nvPr/>
        </p:nvSpPr>
        <p:spPr>
          <a:xfrm>
            <a:off x="6766560" y="822960"/>
            <a:ext cx="2011680" cy="1600200"/>
          </a:xfrm>
          <a:prstGeom prst="rect">
            <a:avLst/>
          </a:prstGeom>
          <a:solidFill>
            <a:srgbClr val="546E7A"/>
          </a:solidFill>
          <a:ln/>
          <a:effectLst>
            <a:outerShdw sx="100000" sy="100000" kx="0" ky="0" algn="bl" rotWithShape="0" blurRad="101600" dist="38100" dir="8100000">
              <a:srgbClr val="000000">
                <a:alpha val="12000"/>
              </a:srgbClr>
            </a:outerShdw>
          </a:effectLst>
        </p:spPr>
      </p:sp>
      <p:sp>
        <p:nvSpPr>
          <p:cNvPr id="18" name="Text 15"/>
          <p:cNvSpPr/>
          <p:nvPr/>
        </p:nvSpPr>
        <p:spPr>
          <a:xfrm>
            <a:off x="6766560" y="868680"/>
            <a:ext cx="2011680" cy="228600"/>
          </a:xfrm>
          <a:prstGeom prst="rect">
            <a:avLst/>
          </a:prstGeom>
          <a:noFill/>
          <a:ln/>
        </p:spPr>
        <p:txBody>
          <a:bodyPr wrap="square" lIns="0" tIns="0" rIns="0" bIns="0" rtlCol="0" anchor="ctr"/>
          <a:lstStyle/>
          <a:p>
            <a:pPr algn="ctr" indent="0" marL="0">
              <a:buNone/>
            </a:pPr>
            <a:r>
              <a:rPr lang="en-US" sz="1000" dirty="0">
                <a:solidFill>
                  <a:srgbClr val="CCCCCC"/>
                </a:solidFill>
              </a:rPr>
              <a:t>Tab 4</a:t>
            </a:r>
            <a:endParaRPr lang="en-US" sz="1000" dirty="0"/>
          </a:p>
        </p:txBody>
      </p:sp>
      <p:sp>
        <p:nvSpPr>
          <p:cNvPr id="19" name="Text 16"/>
          <p:cNvSpPr/>
          <p:nvPr/>
        </p:nvSpPr>
        <p:spPr>
          <a:xfrm>
            <a:off x="6766560" y="1078992"/>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rPr>
              <a:t>Predict Calories</a:t>
            </a:r>
            <a:endParaRPr lang="en-US" sz="1200" dirty="0"/>
          </a:p>
        </p:txBody>
      </p:sp>
      <p:sp>
        <p:nvSpPr>
          <p:cNvPr id="20" name="Text 17"/>
          <p:cNvSpPr/>
          <p:nvPr/>
        </p:nvSpPr>
        <p:spPr>
          <a:xfrm>
            <a:off x="6858000" y="1481328"/>
            <a:ext cx="1828800" cy="877824"/>
          </a:xfrm>
          <a:prstGeom prst="rect">
            <a:avLst/>
          </a:prstGeom>
          <a:noFill/>
          <a:ln/>
        </p:spPr>
        <p:txBody>
          <a:bodyPr wrap="square" lIns="0" tIns="0" rIns="0" bIns="0" rtlCol="0" anchor="ctr"/>
          <a:lstStyle/>
          <a:p>
            <a:pPr indent="0" marL="0">
              <a:buNone/>
            </a:pPr>
            <a:r>
              <a:rPr lang="en-US" sz="950" dirty="0">
                <a:solidFill>
                  <a:srgbClr val="D0D0D0"/>
                </a:solidFill>
              </a:rPr>
              <a:t>Upload image → select model → Estimate → get kcal. Ground-truth shown for known images.</a:t>
            </a:r>
            <a:endParaRPr lang="en-US" sz="950" dirty="0"/>
          </a:p>
        </p:txBody>
      </p:sp>
      <p:sp>
        <p:nvSpPr>
          <p:cNvPr id="21" name="Text 18"/>
          <p:cNvSpPr/>
          <p:nvPr/>
        </p:nvSpPr>
        <p:spPr>
          <a:xfrm>
            <a:off x="320040" y="2578608"/>
            <a:ext cx="8503920" cy="237744"/>
          </a:xfrm>
          <a:prstGeom prst="rect">
            <a:avLst/>
          </a:prstGeom>
          <a:noFill/>
          <a:ln/>
        </p:spPr>
        <p:txBody>
          <a:bodyPr wrap="square" lIns="0" tIns="0" rIns="0" bIns="0" rtlCol="0" anchor="ctr"/>
          <a:lstStyle/>
          <a:p>
            <a:pPr indent="0" marL="0">
              <a:buNone/>
            </a:pPr>
            <a:r>
              <a:rPr lang="en-US" sz="1000" b="1" spc="300" kern="0" dirty="0">
                <a:solidFill>
                  <a:srgbClr val="00796B"/>
                </a:solidFill>
              </a:rPr>
              <a:t>TECH STACK</a:t>
            </a:r>
            <a:endParaRPr lang="en-US" sz="1000" dirty="0"/>
          </a:p>
        </p:txBody>
      </p:sp>
      <p:sp>
        <p:nvSpPr>
          <p:cNvPr id="22" name="Shape 19"/>
          <p:cNvSpPr/>
          <p:nvPr/>
        </p:nvSpPr>
        <p:spPr>
          <a:xfrm>
            <a:off x="320040" y="2852928"/>
            <a:ext cx="1600200" cy="420624"/>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3" name="Image 1" descr="preencoded.png">    </p:cNvPr>
          <p:cNvPicPr>
            <a:picLocks noChangeAspect="1"/>
          </p:cNvPicPr>
          <p:nvPr/>
        </p:nvPicPr>
        <p:blipFill>
          <a:blip r:embed="rId2"/>
          <a:stretch>
            <a:fillRect/>
          </a:stretch>
        </p:blipFill>
        <p:spPr>
          <a:xfrm>
            <a:off x="411480" y="2953512"/>
            <a:ext cx="201168" cy="201168"/>
          </a:xfrm>
          <a:prstGeom prst="rect">
            <a:avLst/>
          </a:prstGeom>
        </p:spPr>
      </p:pic>
      <p:sp>
        <p:nvSpPr>
          <p:cNvPr id="24" name="Text 20"/>
          <p:cNvSpPr/>
          <p:nvPr/>
        </p:nvSpPr>
        <p:spPr>
          <a:xfrm>
            <a:off x="667512" y="2852928"/>
            <a:ext cx="1207008" cy="420624"/>
          </a:xfrm>
          <a:prstGeom prst="rect">
            <a:avLst/>
          </a:prstGeom>
          <a:noFill/>
          <a:ln/>
        </p:spPr>
        <p:txBody>
          <a:bodyPr wrap="square" lIns="0" tIns="0" rIns="0" bIns="0" rtlCol="0" anchor="ctr"/>
          <a:lstStyle/>
          <a:p>
            <a:pPr indent="0" marL="0">
              <a:buNone/>
            </a:pPr>
            <a:r>
              <a:rPr lang="en-US" sz="950" dirty="0">
                <a:solidFill>
                  <a:srgbClr val="0D1F2D"/>
                </a:solidFill>
              </a:rPr>
              <a:t>Streamlit</a:t>
            </a:r>
            <a:endParaRPr lang="en-US" sz="950" dirty="0"/>
          </a:p>
        </p:txBody>
      </p:sp>
      <p:sp>
        <p:nvSpPr>
          <p:cNvPr id="25" name="Shape 21"/>
          <p:cNvSpPr/>
          <p:nvPr/>
        </p:nvSpPr>
        <p:spPr>
          <a:xfrm>
            <a:off x="2057400" y="2852928"/>
            <a:ext cx="1600200" cy="420624"/>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6" name="Image 2" descr="preencoded.png">    </p:cNvPr>
          <p:cNvPicPr>
            <a:picLocks noChangeAspect="1"/>
          </p:cNvPicPr>
          <p:nvPr/>
        </p:nvPicPr>
        <p:blipFill>
          <a:blip r:embed="rId3"/>
          <a:stretch>
            <a:fillRect/>
          </a:stretch>
        </p:blipFill>
        <p:spPr>
          <a:xfrm>
            <a:off x="2148840" y="2953512"/>
            <a:ext cx="201168" cy="201168"/>
          </a:xfrm>
          <a:prstGeom prst="rect">
            <a:avLst/>
          </a:prstGeom>
        </p:spPr>
      </p:pic>
      <p:sp>
        <p:nvSpPr>
          <p:cNvPr id="27" name="Text 22"/>
          <p:cNvSpPr/>
          <p:nvPr/>
        </p:nvSpPr>
        <p:spPr>
          <a:xfrm>
            <a:off x="2404872" y="2852928"/>
            <a:ext cx="1207008" cy="420624"/>
          </a:xfrm>
          <a:prstGeom prst="rect">
            <a:avLst/>
          </a:prstGeom>
          <a:noFill/>
          <a:ln/>
        </p:spPr>
        <p:txBody>
          <a:bodyPr wrap="square" lIns="0" tIns="0" rIns="0" bIns="0" rtlCol="0" anchor="ctr"/>
          <a:lstStyle/>
          <a:p>
            <a:pPr indent="0" marL="0">
              <a:buNone/>
            </a:pPr>
            <a:r>
              <a:rPr lang="en-US" sz="950" dirty="0">
                <a:solidFill>
                  <a:srgbClr val="0D1F2D"/>
                </a:solidFill>
              </a:rPr>
              <a:t>PyTorch + torchvision</a:t>
            </a:r>
            <a:endParaRPr lang="en-US" sz="950" dirty="0"/>
          </a:p>
        </p:txBody>
      </p:sp>
      <p:sp>
        <p:nvSpPr>
          <p:cNvPr id="28" name="Shape 23"/>
          <p:cNvSpPr/>
          <p:nvPr/>
        </p:nvSpPr>
        <p:spPr>
          <a:xfrm>
            <a:off x="3794760" y="2852928"/>
            <a:ext cx="1600200" cy="420624"/>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29" name="Image 3" descr="preencoded.png">    </p:cNvPr>
          <p:cNvPicPr>
            <a:picLocks noChangeAspect="1"/>
          </p:cNvPicPr>
          <p:nvPr/>
        </p:nvPicPr>
        <p:blipFill>
          <a:blip r:embed="rId4"/>
          <a:stretch>
            <a:fillRect/>
          </a:stretch>
        </p:blipFill>
        <p:spPr>
          <a:xfrm>
            <a:off x="3886200" y="2953512"/>
            <a:ext cx="201168" cy="201168"/>
          </a:xfrm>
          <a:prstGeom prst="rect">
            <a:avLst/>
          </a:prstGeom>
        </p:spPr>
      </p:pic>
      <p:sp>
        <p:nvSpPr>
          <p:cNvPr id="30" name="Text 24"/>
          <p:cNvSpPr/>
          <p:nvPr/>
        </p:nvSpPr>
        <p:spPr>
          <a:xfrm>
            <a:off x="4142232" y="2852928"/>
            <a:ext cx="1207008" cy="420624"/>
          </a:xfrm>
          <a:prstGeom prst="rect">
            <a:avLst/>
          </a:prstGeom>
          <a:noFill/>
          <a:ln/>
        </p:spPr>
        <p:txBody>
          <a:bodyPr wrap="square" lIns="0" tIns="0" rIns="0" bIns="0" rtlCol="0" anchor="ctr"/>
          <a:lstStyle/>
          <a:p>
            <a:pPr indent="0" marL="0">
              <a:buNone/>
            </a:pPr>
            <a:r>
              <a:rPr lang="en-US" sz="950" dirty="0">
                <a:solidFill>
                  <a:srgbClr val="0D1F2D"/>
                </a:solidFill>
              </a:rPr>
              <a:t>Pillow (PIL)</a:t>
            </a:r>
            <a:endParaRPr lang="en-US" sz="950" dirty="0"/>
          </a:p>
        </p:txBody>
      </p:sp>
      <p:sp>
        <p:nvSpPr>
          <p:cNvPr id="31" name="Shape 25"/>
          <p:cNvSpPr/>
          <p:nvPr/>
        </p:nvSpPr>
        <p:spPr>
          <a:xfrm>
            <a:off x="5532120" y="2852928"/>
            <a:ext cx="1600200" cy="420624"/>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32" name="Image 4" descr="preencoded.png">    </p:cNvPr>
          <p:cNvPicPr>
            <a:picLocks noChangeAspect="1"/>
          </p:cNvPicPr>
          <p:nvPr/>
        </p:nvPicPr>
        <p:blipFill>
          <a:blip r:embed="rId5"/>
          <a:stretch>
            <a:fillRect/>
          </a:stretch>
        </p:blipFill>
        <p:spPr>
          <a:xfrm>
            <a:off x="5623560" y="2953512"/>
            <a:ext cx="201168" cy="201168"/>
          </a:xfrm>
          <a:prstGeom prst="rect">
            <a:avLst/>
          </a:prstGeom>
        </p:spPr>
      </p:pic>
      <p:sp>
        <p:nvSpPr>
          <p:cNvPr id="33" name="Text 26"/>
          <p:cNvSpPr/>
          <p:nvPr/>
        </p:nvSpPr>
        <p:spPr>
          <a:xfrm>
            <a:off x="5879592" y="2852928"/>
            <a:ext cx="1207008" cy="420624"/>
          </a:xfrm>
          <a:prstGeom prst="rect">
            <a:avLst/>
          </a:prstGeom>
          <a:noFill/>
          <a:ln/>
        </p:spPr>
        <p:txBody>
          <a:bodyPr wrap="square" lIns="0" tIns="0" rIns="0" bIns="0" rtlCol="0" anchor="ctr"/>
          <a:lstStyle/>
          <a:p>
            <a:pPr indent="0" marL="0">
              <a:buNone/>
            </a:pPr>
            <a:r>
              <a:rPr lang="en-US" sz="950" dirty="0">
                <a:solidFill>
                  <a:srgbClr val="0D1F2D"/>
                </a:solidFill>
              </a:rPr>
              <a:t>pandas / numpy</a:t>
            </a:r>
            <a:endParaRPr lang="en-US" sz="950" dirty="0"/>
          </a:p>
        </p:txBody>
      </p:sp>
      <p:sp>
        <p:nvSpPr>
          <p:cNvPr id="34" name="Shape 27"/>
          <p:cNvSpPr/>
          <p:nvPr/>
        </p:nvSpPr>
        <p:spPr>
          <a:xfrm>
            <a:off x="7269480" y="2852928"/>
            <a:ext cx="1600200" cy="420624"/>
          </a:xfrm>
          <a:prstGeom prst="rect">
            <a:avLst/>
          </a:prstGeom>
          <a:solidFill>
            <a:srgbClr val="FFFFFF"/>
          </a:solidFill>
          <a:ln/>
          <a:effectLst>
            <a:outerShdw sx="100000" sy="100000" kx="0" ky="0" algn="bl" rotWithShape="0" blurRad="101600" dist="38100" dir="8100000">
              <a:srgbClr val="000000">
                <a:alpha val="12000"/>
              </a:srgbClr>
            </a:outerShdw>
          </a:effectLst>
        </p:spPr>
      </p:sp>
      <p:pic>
        <p:nvPicPr>
          <p:cNvPr id="35" name="Image 5" descr="preencoded.png">    </p:cNvPr>
          <p:cNvPicPr>
            <a:picLocks noChangeAspect="1"/>
          </p:cNvPicPr>
          <p:nvPr/>
        </p:nvPicPr>
        <p:blipFill>
          <a:blip r:embed="rId6"/>
          <a:stretch>
            <a:fillRect/>
          </a:stretch>
        </p:blipFill>
        <p:spPr>
          <a:xfrm>
            <a:off x="7360920" y="2953512"/>
            <a:ext cx="201168" cy="201168"/>
          </a:xfrm>
          <a:prstGeom prst="rect">
            <a:avLst/>
          </a:prstGeom>
        </p:spPr>
      </p:pic>
      <p:sp>
        <p:nvSpPr>
          <p:cNvPr id="36" name="Text 28"/>
          <p:cNvSpPr/>
          <p:nvPr/>
        </p:nvSpPr>
        <p:spPr>
          <a:xfrm>
            <a:off x="7616952" y="2852928"/>
            <a:ext cx="1207008" cy="420624"/>
          </a:xfrm>
          <a:prstGeom prst="rect">
            <a:avLst/>
          </a:prstGeom>
          <a:noFill/>
          <a:ln/>
        </p:spPr>
        <p:txBody>
          <a:bodyPr wrap="square" lIns="0" tIns="0" rIns="0" bIns="0" rtlCol="0" anchor="ctr"/>
          <a:lstStyle/>
          <a:p>
            <a:pPr indent="0" marL="0">
              <a:buNone/>
            </a:pPr>
            <a:r>
              <a:rPr lang="en-US" sz="950" dirty="0">
                <a:solidFill>
                  <a:srgbClr val="0D1F2D"/>
                </a:solidFill>
              </a:rPr>
              <a:t>run_app.ps1</a:t>
            </a:r>
            <a:endParaRPr lang="en-US" sz="950" dirty="0"/>
          </a:p>
        </p:txBody>
      </p:sp>
      <p:sp>
        <p:nvSpPr>
          <p:cNvPr id="37" name="Shape 29"/>
          <p:cNvSpPr/>
          <p:nvPr/>
        </p:nvSpPr>
        <p:spPr>
          <a:xfrm>
            <a:off x="320040" y="3401568"/>
            <a:ext cx="6309360" cy="1572768"/>
          </a:xfrm>
          <a:prstGeom prst="rect">
            <a:avLst/>
          </a:prstGeom>
          <a:solidFill>
            <a:srgbClr val="0D1F2D"/>
          </a:solidFill>
          <a:ln/>
          <a:effectLst>
            <a:outerShdw sx="100000" sy="100000" kx="0" ky="0" algn="bl" rotWithShape="0" blurRad="101600" dist="38100" dir="8100000">
              <a:srgbClr val="000000">
                <a:alpha val="12000"/>
              </a:srgbClr>
            </a:outerShdw>
          </a:effectLst>
        </p:spPr>
      </p:sp>
      <p:sp>
        <p:nvSpPr>
          <p:cNvPr id="38" name="Shape 30"/>
          <p:cNvSpPr/>
          <p:nvPr/>
        </p:nvSpPr>
        <p:spPr>
          <a:xfrm>
            <a:off x="320040" y="3401568"/>
            <a:ext cx="64008" cy="1572768"/>
          </a:xfrm>
          <a:prstGeom prst="rect">
            <a:avLst/>
          </a:prstGeom>
          <a:solidFill>
            <a:srgbClr val="FF6F00"/>
          </a:solidFill>
          <a:ln/>
        </p:spPr>
      </p:sp>
      <p:sp>
        <p:nvSpPr>
          <p:cNvPr id="39" name="Text 31"/>
          <p:cNvSpPr/>
          <p:nvPr/>
        </p:nvSpPr>
        <p:spPr>
          <a:xfrm>
            <a:off x="502920" y="3456432"/>
            <a:ext cx="6035040" cy="292608"/>
          </a:xfrm>
          <a:prstGeom prst="rect">
            <a:avLst/>
          </a:prstGeom>
          <a:noFill/>
          <a:ln/>
        </p:spPr>
        <p:txBody>
          <a:bodyPr wrap="square" lIns="0" tIns="0" rIns="0" bIns="0" rtlCol="0" anchor="ctr"/>
          <a:lstStyle/>
          <a:p>
            <a:pPr indent="0" marL="0">
              <a:buNone/>
            </a:pPr>
            <a:r>
              <a:rPr lang="en-US" sz="1200" b="1" dirty="0">
                <a:solidFill>
                  <a:srgbClr val="FF6F00"/>
                </a:solidFill>
              </a:rPr>
              <a:t>Live Deployment URL</a:t>
            </a:r>
            <a:endParaRPr lang="en-US" sz="1200" dirty="0"/>
          </a:p>
        </p:txBody>
      </p:sp>
      <p:sp>
        <p:nvSpPr>
          <p:cNvPr id="40" name="Text 32"/>
          <p:cNvSpPr/>
          <p:nvPr/>
        </p:nvSpPr>
        <p:spPr>
          <a:xfrm>
            <a:off x="502920" y="3794760"/>
            <a:ext cx="6035040" cy="402336"/>
          </a:xfrm>
          <a:prstGeom prst="rect">
            <a:avLst/>
          </a:prstGeom>
          <a:noFill/>
          <a:ln/>
        </p:spPr>
        <p:txBody>
          <a:bodyPr wrap="square" lIns="0" tIns="0" rIns="0" bIns="0" rtlCol="0" anchor="ctr"/>
          <a:lstStyle/>
          <a:p>
            <a:pPr indent="0" marL="0">
              <a:buNone/>
            </a:pPr>
            <a:r>
              <a:rPr lang="en-US" sz="2000" b="1" dirty="0">
                <a:solidFill>
                  <a:srgbClr val="4DB6AC"/>
                </a:solidFill>
              </a:rPr>
              <a:t>food-calorie-sut.streamlit.app</a:t>
            </a:r>
            <a:endParaRPr lang="en-US" sz="2000" dirty="0"/>
          </a:p>
        </p:txBody>
      </p:sp>
      <p:sp>
        <p:nvSpPr>
          <p:cNvPr id="41" name="Text 33"/>
          <p:cNvSpPr/>
          <p:nvPr/>
        </p:nvSpPr>
        <p:spPr>
          <a:xfrm>
            <a:off x="502920" y="4251960"/>
            <a:ext cx="5669280" cy="594360"/>
          </a:xfrm>
          <a:prstGeom prst="rect">
            <a:avLst/>
          </a:prstGeom>
          <a:noFill/>
          <a:ln/>
        </p:spPr>
        <p:txBody>
          <a:bodyPr wrap="square" lIns="0" tIns="0" rIns="0" bIns="0" rtlCol="0" anchor="ctr"/>
          <a:lstStyle/>
          <a:p>
            <a:pPr indent="0" marL="0">
              <a:buNone/>
            </a:pPr>
            <a:r>
              <a:rPr lang="en-US" sz="1200" dirty="0">
                <a:solidFill>
                  <a:srgbClr val="B0BEC5"/>
                </a:solidFill>
              </a:rPr>
              <a:t>Scan QR code to open the live app instantly</a:t>
            </a:r>
            <a:endParaRPr lang="en-US" sz="1200" dirty="0"/>
          </a:p>
        </p:txBody>
      </p:sp>
      <p:pic>
        <p:nvPicPr>
          <p:cNvPr id="42" name="Image 6" descr="/home/claude/img_qr.png">    </p:cNvPr>
          <p:cNvPicPr>
            <a:picLocks noChangeAspect="1"/>
          </p:cNvPicPr>
          <p:nvPr/>
        </p:nvPicPr>
        <p:blipFill>
          <a:blip r:embed="rId7"/>
          <a:stretch>
            <a:fillRect/>
          </a:stretch>
        </p:blipFill>
        <p:spPr>
          <a:xfrm>
            <a:off x="6812280" y="3364992"/>
            <a:ext cx="1645920" cy="1627632"/>
          </a:xfrm>
          <a:prstGeom prst="rect">
            <a:avLst/>
          </a:prstGeom>
        </p:spPr>
      </p:pic>
      <p:sp>
        <p:nvSpPr>
          <p:cNvPr id="43" name="Shape 34"/>
          <p:cNvSpPr/>
          <p:nvPr/>
        </p:nvSpPr>
        <p:spPr>
          <a:xfrm>
            <a:off x="0" y="4910328"/>
            <a:ext cx="9144000" cy="233172"/>
          </a:xfrm>
          <a:prstGeom prst="rect">
            <a:avLst/>
          </a:prstGeom>
          <a:solidFill>
            <a:srgbClr val="FF6F00"/>
          </a:solidFill>
          <a:ln/>
        </p:spPr>
      </p:sp>
      <p:sp>
        <p:nvSpPr>
          <p:cNvPr id="44" name="Text 35"/>
          <p:cNvSpPr/>
          <p:nvPr/>
        </p:nvSpPr>
        <p:spPr>
          <a:xfrm>
            <a:off x="0" y="4910328"/>
            <a:ext cx="9144000" cy="233172"/>
          </a:xfrm>
          <a:prstGeom prst="rect">
            <a:avLst/>
          </a:prstGeom>
          <a:noFill/>
          <a:ln/>
        </p:spPr>
        <p:txBody>
          <a:bodyPr wrap="square" rtlCol="0" anchor="ctr"/>
          <a:lstStyle/>
          <a:p>
            <a:pPr algn="ctr" indent="0" marL="0">
              <a:buNone/>
            </a:pPr>
            <a:r>
              <a:rPr lang="en-US" sz="1100" b="1" dirty="0">
                <a:solidFill>
                  <a:srgbClr val="FFFFFF"/>
                </a:solidFill>
              </a:rPr>
              <a:t>Bonus Marks Claimed: +1 to +4  ·  Web Application (Streamlit) + publicly deployed  ·  Fully functional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6F00"/>
          </a:solidFill>
          <a:ln/>
        </p:spPr>
      </p:sp>
      <p:pic>
        <p:nvPicPr>
          <p:cNvPr id="3" name="Image 0" descr="preencoded.png">    </p:cNvPr>
          <p:cNvPicPr>
            <a:picLocks noChangeAspect="1"/>
          </p:cNvPicPr>
          <p:nvPr/>
        </p:nvPicPr>
        <p:blipFill>
          <a:blip r:embed="rId1"/>
          <a:stretch>
            <a:fillRect/>
          </a:stretch>
        </p:blipFill>
        <p:spPr>
          <a:xfrm>
            <a:off x="274320" y="109728"/>
            <a:ext cx="475488" cy="475488"/>
          </a:xfrm>
          <a:prstGeom prst="rect">
            <a:avLst/>
          </a:prstGeom>
        </p:spPr>
      </p:pic>
      <p:sp>
        <p:nvSpPr>
          <p:cNvPr id="4" name="Text 1"/>
          <p:cNvSpPr/>
          <p:nvPr/>
        </p:nvSpPr>
        <p:spPr>
          <a:xfrm>
            <a:off x="868680" y="0"/>
            <a:ext cx="8046720" cy="685800"/>
          </a:xfrm>
          <a:prstGeom prst="rect">
            <a:avLst/>
          </a:prstGeom>
          <a:noFill/>
          <a:ln/>
        </p:spPr>
        <p:txBody>
          <a:bodyPr wrap="square" rtlCol="0" anchor="ctr"/>
          <a:lstStyle/>
          <a:p>
            <a:pPr indent="0" marL="0">
              <a:buNone/>
            </a:pPr>
            <a:r>
              <a:rPr lang="en-US" sz="1400" b="1" dirty="0">
                <a:solidFill>
                  <a:srgbClr val="FFFFFF"/>
                </a:solidFill>
              </a:rPr>
              <a:t>LIVE APP SCREENSHOTS  —  food-calorie-sut.streamlit.app</a:t>
            </a:r>
            <a:endParaRPr lang="en-US" sz="1400" dirty="0"/>
          </a:p>
        </p:txBody>
      </p:sp>
      <p:sp>
        <p:nvSpPr>
          <p:cNvPr id="5" name="Shape 2"/>
          <p:cNvSpPr/>
          <p:nvPr/>
        </p:nvSpPr>
        <p:spPr>
          <a:xfrm>
            <a:off x="228600" y="804672"/>
            <a:ext cx="4251960" cy="2029968"/>
          </a:xfrm>
          <a:prstGeom prst="rect">
            <a:avLst/>
          </a:prstGeom>
          <a:solidFill>
            <a:srgbClr val="37474F"/>
          </a:solidFill>
          <a:ln/>
          <a:effectLst>
            <a:outerShdw sx="100000" sy="100000" kx="0" ky="0" algn="bl" rotWithShape="0" blurRad="101600" dist="38100" dir="8100000">
              <a:srgbClr val="000000">
                <a:alpha val="12000"/>
              </a:srgbClr>
            </a:outerShdw>
          </a:effectLst>
        </p:spPr>
      </p:sp>
      <p:pic>
        <p:nvPicPr>
          <p:cNvPr id="6" name="Image 1" descr="/home/claude/img_metrics_sm.jpg">    </p:cNvPr>
          <p:cNvPicPr>
            <a:picLocks noChangeAspect="1"/>
          </p:cNvPicPr>
          <p:nvPr/>
        </p:nvPicPr>
        <p:blipFill>
          <a:blip r:embed="rId2"/>
          <a:srcRect l="0" r="0" t="0" b="0"/>
          <a:stretch/>
        </p:blipFill>
        <p:spPr>
          <a:xfrm>
            <a:off x="274320" y="841248"/>
            <a:ext cx="4160520" cy="1719072"/>
          </a:xfrm>
          <a:prstGeom prst="rect">
            <a:avLst/>
          </a:prstGeom>
        </p:spPr>
      </p:pic>
      <p:sp>
        <p:nvSpPr>
          <p:cNvPr id="7" name="Shape 3"/>
          <p:cNvSpPr/>
          <p:nvPr/>
        </p:nvSpPr>
        <p:spPr>
          <a:xfrm>
            <a:off x="228600" y="2834640"/>
            <a:ext cx="4251960" cy="274320"/>
          </a:xfrm>
          <a:prstGeom prst="rect">
            <a:avLst/>
          </a:prstGeom>
          <a:solidFill>
            <a:srgbClr val="1A6B5F"/>
          </a:solidFill>
          <a:ln/>
        </p:spPr>
      </p:sp>
      <p:sp>
        <p:nvSpPr>
          <p:cNvPr id="8" name="Text 4"/>
          <p:cNvSpPr/>
          <p:nvPr/>
        </p:nvSpPr>
        <p:spPr>
          <a:xfrm>
            <a:off x="228600" y="2834640"/>
            <a:ext cx="4251960" cy="274320"/>
          </a:xfrm>
          <a:prstGeom prst="rect">
            <a:avLst/>
          </a:prstGeom>
          <a:noFill/>
          <a:ln/>
        </p:spPr>
        <p:txBody>
          <a:bodyPr wrap="square" lIns="0" tIns="0" rIns="0" bIns="0" rtlCol="0" anchor="ctr"/>
          <a:lstStyle/>
          <a:p>
            <a:pPr algn="ctr" indent="0" marL="0">
              <a:buNone/>
            </a:pPr>
            <a:r>
              <a:rPr lang="en-US" sz="1000" b="1" dirty="0">
                <a:solidFill>
                  <a:srgbClr val="FFFFFF"/>
                </a:solidFill>
              </a:rPr>
              <a:t>Tab 2 — Metrics &amp; Curves</a:t>
            </a:r>
            <a:endParaRPr lang="en-US" sz="1000" dirty="0"/>
          </a:p>
        </p:txBody>
      </p:sp>
      <p:sp>
        <p:nvSpPr>
          <p:cNvPr id="9" name="Shape 5"/>
          <p:cNvSpPr/>
          <p:nvPr/>
        </p:nvSpPr>
        <p:spPr>
          <a:xfrm>
            <a:off x="4663440" y="804672"/>
            <a:ext cx="4251960" cy="2029968"/>
          </a:xfrm>
          <a:prstGeom prst="rect">
            <a:avLst/>
          </a:prstGeom>
          <a:solidFill>
            <a:srgbClr val="37474F"/>
          </a:solidFill>
          <a:ln/>
          <a:effectLst>
            <a:outerShdw sx="100000" sy="100000" kx="0" ky="0" algn="bl" rotWithShape="0" blurRad="101600" dist="38100" dir="8100000">
              <a:srgbClr val="000000">
                <a:alpha val="12000"/>
              </a:srgbClr>
            </a:outerShdw>
          </a:effectLst>
        </p:spPr>
      </p:sp>
      <p:pic>
        <p:nvPicPr>
          <p:cNvPr id="10" name="Image 2" descr="/home/claude/img_dataset_sm.jpg">    </p:cNvPr>
          <p:cNvPicPr>
            <a:picLocks noChangeAspect="1"/>
          </p:cNvPicPr>
          <p:nvPr/>
        </p:nvPicPr>
        <p:blipFill>
          <a:blip r:embed="rId3"/>
          <a:srcRect l="0" r="0" t="0" b="0"/>
          <a:stretch/>
        </p:blipFill>
        <p:spPr>
          <a:xfrm>
            <a:off x="4709160" y="841248"/>
            <a:ext cx="4160520" cy="1719072"/>
          </a:xfrm>
          <a:prstGeom prst="rect">
            <a:avLst/>
          </a:prstGeom>
        </p:spPr>
      </p:pic>
      <p:sp>
        <p:nvSpPr>
          <p:cNvPr id="11" name="Shape 6"/>
          <p:cNvSpPr/>
          <p:nvPr/>
        </p:nvSpPr>
        <p:spPr>
          <a:xfrm>
            <a:off x="4663440" y="2834640"/>
            <a:ext cx="4251960" cy="274320"/>
          </a:xfrm>
          <a:prstGeom prst="rect">
            <a:avLst/>
          </a:prstGeom>
          <a:solidFill>
            <a:srgbClr val="37474F"/>
          </a:solidFill>
          <a:ln/>
        </p:spPr>
      </p:sp>
      <p:sp>
        <p:nvSpPr>
          <p:cNvPr id="12" name="Text 7"/>
          <p:cNvSpPr/>
          <p:nvPr/>
        </p:nvSpPr>
        <p:spPr>
          <a:xfrm>
            <a:off x="4663440" y="2834640"/>
            <a:ext cx="4251960" cy="274320"/>
          </a:xfrm>
          <a:prstGeom prst="rect">
            <a:avLst/>
          </a:prstGeom>
          <a:noFill/>
          <a:ln/>
        </p:spPr>
        <p:txBody>
          <a:bodyPr wrap="square" lIns="0" tIns="0" rIns="0" bIns="0" rtlCol="0" anchor="ctr"/>
          <a:lstStyle/>
          <a:p>
            <a:pPr algn="ctr" indent="0" marL="0">
              <a:buNone/>
            </a:pPr>
            <a:r>
              <a:rPr lang="en-US" sz="1000" b="1" dirty="0">
                <a:solidFill>
                  <a:srgbClr val="4DB6AC"/>
                </a:solidFill>
              </a:rPr>
              <a:t>Tab 3 — Dataset Splits</a:t>
            </a:r>
            <a:endParaRPr lang="en-US" sz="1000" dirty="0"/>
          </a:p>
        </p:txBody>
      </p:sp>
      <p:sp>
        <p:nvSpPr>
          <p:cNvPr id="13" name="Shape 8"/>
          <p:cNvSpPr/>
          <p:nvPr/>
        </p:nvSpPr>
        <p:spPr>
          <a:xfrm>
            <a:off x="228600" y="3218688"/>
            <a:ext cx="4251960" cy="1664208"/>
          </a:xfrm>
          <a:prstGeom prst="rect">
            <a:avLst/>
          </a:prstGeom>
          <a:solidFill>
            <a:srgbClr val="37474F"/>
          </a:solidFill>
          <a:ln/>
          <a:effectLst>
            <a:outerShdw sx="100000" sy="100000" kx="0" ky="0" algn="bl" rotWithShape="0" blurRad="101600" dist="38100" dir="8100000">
              <a:srgbClr val="000000">
                <a:alpha val="12000"/>
              </a:srgbClr>
            </a:outerShdw>
          </a:effectLst>
        </p:spPr>
      </p:sp>
      <p:pic>
        <p:nvPicPr>
          <p:cNvPr id="14" name="Image 3" descr="/home/claude/img_predict1_sm.jpg">    </p:cNvPr>
          <p:cNvPicPr>
            <a:picLocks noChangeAspect="1"/>
          </p:cNvPicPr>
          <p:nvPr/>
        </p:nvPicPr>
        <p:blipFill>
          <a:blip r:embed="rId4"/>
          <a:srcRect l="0" r="0" t="0" b="0"/>
          <a:stretch/>
        </p:blipFill>
        <p:spPr>
          <a:xfrm>
            <a:off x="274320" y="3255264"/>
            <a:ext cx="4160520" cy="1335024"/>
          </a:xfrm>
          <a:prstGeom prst="rect">
            <a:avLst/>
          </a:prstGeom>
        </p:spPr>
      </p:pic>
      <p:sp>
        <p:nvSpPr>
          <p:cNvPr id="15" name="Shape 9"/>
          <p:cNvSpPr/>
          <p:nvPr/>
        </p:nvSpPr>
        <p:spPr>
          <a:xfrm>
            <a:off x="228600" y="4617720"/>
            <a:ext cx="4251960" cy="274320"/>
          </a:xfrm>
          <a:prstGeom prst="rect">
            <a:avLst/>
          </a:prstGeom>
          <a:solidFill>
            <a:srgbClr val="00796B"/>
          </a:solidFill>
          <a:ln/>
        </p:spPr>
      </p:sp>
      <p:sp>
        <p:nvSpPr>
          <p:cNvPr id="16" name="Text 10"/>
          <p:cNvSpPr/>
          <p:nvPr/>
        </p:nvSpPr>
        <p:spPr>
          <a:xfrm>
            <a:off x="228600" y="4617720"/>
            <a:ext cx="4251960" cy="274320"/>
          </a:xfrm>
          <a:prstGeom prst="rect">
            <a:avLst/>
          </a:prstGeom>
          <a:noFill/>
          <a:ln/>
        </p:spPr>
        <p:txBody>
          <a:bodyPr wrap="square" lIns="0" tIns="0" rIns="0" bIns="0" rtlCol="0" anchor="ctr"/>
          <a:lstStyle/>
          <a:p>
            <a:pPr algn="ctr" indent="0" marL="0">
              <a:buNone/>
            </a:pPr>
            <a:r>
              <a:rPr lang="en-US" sz="1000" b="1" dirty="0">
                <a:solidFill>
                  <a:srgbClr val="FFFFFF"/>
                </a:solidFill>
              </a:rPr>
              <a:t>Tab 4 — Predict  ·  Actual: 239.19 kcal</a:t>
            </a:r>
            <a:endParaRPr lang="en-US" sz="1000" dirty="0"/>
          </a:p>
        </p:txBody>
      </p:sp>
      <p:sp>
        <p:nvSpPr>
          <p:cNvPr id="17" name="Shape 11"/>
          <p:cNvSpPr/>
          <p:nvPr/>
        </p:nvSpPr>
        <p:spPr>
          <a:xfrm>
            <a:off x="4663440" y="3218688"/>
            <a:ext cx="4251960" cy="1664208"/>
          </a:xfrm>
          <a:prstGeom prst="rect">
            <a:avLst/>
          </a:prstGeom>
          <a:solidFill>
            <a:srgbClr val="37474F"/>
          </a:solidFill>
          <a:ln/>
          <a:effectLst>
            <a:outerShdw sx="100000" sy="100000" kx="0" ky="0" algn="bl" rotWithShape="0" blurRad="101600" dist="38100" dir="8100000">
              <a:srgbClr val="000000">
                <a:alpha val="12000"/>
              </a:srgbClr>
            </a:outerShdw>
          </a:effectLst>
        </p:spPr>
      </p:sp>
      <p:pic>
        <p:nvPicPr>
          <p:cNvPr id="18" name="Image 4" descr="/home/claude/img_predict2_sm.jpg">    </p:cNvPr>
          <p:cNvPicPr>
            <a:picLocks noChangeAspect="1"/>
          </p:cNvPicPr>
          <p:nvPr/>
        </p:nvPicPr>
        <p:blipFill>
          <a:blip r:embed="rId5"/>
          <a:srcRect l="0" r="0" t="0" b="0"/>
          <a:stretch/>
        </p:blipFill>
        <p:spPr>
          <a:xfrm>
            <a:off x="4709160" y="3255264"/>
            <a:ext cx="4160520" cy="1335024"/>
          </a:xfrm>
          <a:prstGeom prst="rect">
            <a:avLst/>
          </a:prstGeom>
        </p:spPr>
      </p:pic>
      <p:sp>
        <p:nvSpPr>
          <p:cNvPr id="19" name="Shape 12"/>
          <p:cNvSpPr/>
          <p:nvPr/>
        </p:nvSpPr>
        <p:spPr>
          <a:xfrm>
            <a:off x="4663440" y="4617720"/>
            <a:ext cx="4251960" cy="274320"/>
          </a:xfrm>
          <a:prstGeom prst="rect">
            <a:avLst/>
          </a:prstGeom>
          <a:solidFill>
            <a:srgbClr val="00796B"/>
          </a:solidFill>
          <a:ln/>
        </p:spPr>
      </p:sp>
      <p:sp>
        <p:nvSpPr>
          <p:cNvPr id="20" name="Text 13"/>
          <p:cNvSpPr/>
          <p:nvPr/>
        </p:nvSpPr>
        <p:spPr>
          <a:xfrm>
            <a:off x="4663440" y="4617720"/>
            <a:ext cx="4251960" cy="274320"/>
          </a:xfrm>
          <a:prstGeom prst="rect">
            <a:avLst/>
          </a:prstGeom>
          <a:noFill/>
          <a:ln/>
        </p:spPr>
        <p:txBody>
          <a:bodyPr wrap="square" lIns="0" tIns="0" rIns="0" bIns="0" rtlCol="0" anchor="ctr"/>
          <a:lstStyle/>
          <a:p>
            <a:pPr algn="ctr" indent="0" marL="0">
              <a:buNone/>
            </a:pPr>
            <a:r>
              <a:rPr lang="en-US" sz="1000" b="1" dirty="0">
                <a:solidFill>
                  <a:srgbClr val="FFFFFF"/>
                </a:solidFill>
              </a:rPr>
              <a:t>Tab 4 — Predict  ·  Actual: 271.32 kcal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796B"/>
          </a:solidFill>
          <a:ln/>
        </p:spPr>
      </p:sp>
      <p:sp>
        <p:nvSpPr>
          <p:cNvPr id="3" name="Text 1"/>
          <p:cNvSpPr/>
          <p:nvPr/>
        </p:nvSpPr>
        <p:spPr>
          <a:xfrm>
            <a:off x="365760" y="0"/>
            <a:ext cx="8229600" cy="685800"/>
          </a:xfrm>
          <a:prstGeom prst="rect">
            <a:avLst/>
          </a:prstGeom>
          <a:noFill/>
          <a:ln/>
        </p:spPr>
        <p:txBody>
          <a:bodyPr wrap="square" rtlCol="0" anchor="ctr"/>
          <a:lstStyle/>
          <a:p>
            <a:pPr indent="0" marL="0">
              <a:buNone/>
            </a:pPr>
            <a:r>
              <a:rPr lang="en-US" sz="1800" b="1" spc="200" kern="0" dirty="0">
                <a:solidFill>
                  <a:srgbClr val="FFFFFF"/>
                </a:solidFill>
              </a:rPr>
              <a:t>CONCLUSION &amp; RECOMMENDATIONS</a:t>
            </a:r>
            <a:endParaRPr lang="en-US" sz="1800" dirty="0"/>
          </a:p>
        </p:txBody>
      </p:sp>
      <p:sp>
        <p:nvSpPr>
          <p:cNvPr id="4" name="Shape 2"/>
          <p:cNvSpPr/>
          <p:nvPr/>
        </p:nvSpPr>
        <p:spPr>
          <a:xfrm>
            <a:off x="320040" y="822960"/>
            <a:ext cx="4114800" cy="228600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5" name="Shape 3"/>
          <p:cNvSpPr/>
          <p:nvPr/>
        </p:nvSpPr>
        <p:spPr>
          <a:xfrm>
            <a:off x="438912" y="914400"/>
            <a:ext cx="457200" cy="457200"/>
          </a:xfrm>
          <a:prstGeom prst="oval">
            <a:avLst/>
          </a:prstGeom>
          <a:solidFill>
            <a:srgbClr val="00796B"/>
          </a:solidFill>
          <a:ln/>
        </p:spPr>
      </p:sp>
      <p:pic>
        <p:nvPicPr>
          <p:cNvPr id="6" name="Image 0" descr="preencoded.png">    </p:cNvPr>
          <p:cNvPicPr>
            <a:picLocks noChangeAspect="1"/>
          </p:cNvPicPr>
          <p:nvPr/>
        </p:nvPicPr>
        <p:blipFill>
          <a:blip r:embed="rId1"/>
          <a:stretch>
            <a:fillRect/>
          </a:stretch>
        </p:blipFill>
        <p:spPr>
          <a:xfrm>
            <a:off x="475488" y="950976"/>
            <a:ext cx="384048" cy="384048"/>
          </a:xfrm>
          <a:prstGeom prst="rect">
            <a:avLst/>
          </a:prstGeom>
        </p:spPr>
      </p:pic>
      <p:sp>
        <p:nvSpPr>
          <p:cNvPr id="7" name="Text 4"/>
          <p:cNvSpPr/>
          <p:nvPr/>
        </p:nvSpPr>
        <p:spPr>
          <a:xfrm>
            <a:off x="1005840" y="932688"/>
            <a:ext cx="3200400" cy="329184"/>
          </a:xfrm>
          <a:prstGeom prst="rect">
            <a:avLst/>
          </a:prstGeom>
          <a:noFill/>
          <a:ln/>
        </p:spPr>
        <p:txBody>
          <a:bodyPr wrap="square" lIns="0" tIns="0" rIns="0" bIns="0" rtlCol="0" anchor="ctr"/>
          <a:lstStyle/>
          <a:p>
            <a:pPr indent="0" marL="0">
              <a:buNone/>
            </a:pPr>
            <a:r>
              <a:rPr lang="en-US" sz="1400" b="1" dirty="0">
                <a:solidFill>
                  <a:srgbClr val="FFFFFF"/>
                </a:solidFill>
              </a:rPr>
              <a:t>Key Findings</a:t>
            </a:r>
            <a:endParaRPr lang="en-US" sz="1400" dirty="0"/>
          </a:p>
        </p:txBody>
      </p:sp>
      <p:sp>
        <p:nvSpPr>
          <p:cNvPr id="8" name="Shape 5"/>
          <p:cNvSpPr/>
          <p:nvPr/>
        </p:nvSpPr>
        <p:spPr>
          <a:xfrm>
            <a:off x="457200" y="1426464"/>
            <a:ext cx="164592" cy="164592"/>
          </a:xfrm>
          <a:prstGeom prst="oval">
            <a:avLst/>
          </a:prstGeom>
          <a:solidFill>
            <a:srgbClr val="00796B"/>
          </a:solidFill>
          <a:ln/>
        </p:spPr>
      </p:sp>
      <p:sp>
        <p:nvSpPr>
          <p:cNvPr id="9" name="Text 6"/>
          <p:cNvSpPr/>
          <p:nvPr/>
        </p:nvSpPr>
        <p:spPr>
          <a:xfrm>
            <a:off x="731520" y="1389888"/>
            <a:ext cx="3566160" cy="274320"/>
          </a:xfrm>
          <a:prstGeom prst="rect">
            <a:avLst/>
          </a:prstGeom>
          <a:noFill/>
          <a:ln/>
        </p:spPr>
        <p:txBody>
          <a:bodyPr wrap="square" lIns="0" tIns="0" rIns="0" bIns="0" rtlCol="0" anchor="ctr"/>
          <a:lstStyle/>
          <a:p>
            <a:pPr indent="0" marL="0">
              <a:buNone/>
            </a:pPr>
            <a:r>
              <a:rPr lang="en-US" sz="1100" dirty="0">
                <a:solidFill>
                  <a:srgbClr val="B0BEC5"/>
                </a:solidFill>
              </a:rPr>
              <a:t>CNN Scratch → R² 0.604, MAE 104.91 kcal</a:t>
            </a:r>
            <a:endParaRPr lang="en-US" sz="1100" dirty="0"/>
          </a:p>
        </p:txBody>
      </p:sp>
      <p:sp>
        <p:nvSpPr>
          <p:cNvPr id="10" name="Shape 7"/>
          <p:cNvSpPr/>
          <p:nvPr/>
        </p:nvSpPr>
        <p:spPr>
          <a:xfrm>
            <a:off x="457200" y="1755648"/>
            <a:ext cx="164592" cy="164592"/>
          </a:xfrm>
          <a:prstGeom prst="oval">
            <a:avLst/>
          </a:prstGeom>
          <a:solidFill>
            <a:srgbClr val="00796B"/>
          </a:solidFill>
          <a:ln/>
        </p:spPr>
      </p:sp>
      <p:sp>
        <p:nvSpPr>
          <p:cNvPr id="11" name="Text 8"/>
          <p:cNvSpPr/>
          <p:nvPr/>
        </p:nvSpPr>
        <p:spPr>
          <a:xfrm>
            <a:off x="731520" y="1719072"/>
            <a:ext cx="3566160" cy="274320"/>
          </a:xfrm>
          <a:prstGeom prst="rect">
            <a:avLst/>
          </a:prstGeom>
          <a:noFill/>
          <a:ln/>
        </p:spPr>
        <p:txBody>
          <a:bodyPr wrap="square" lIns="0" tIns="0" rIns="0" bIns="0" rtlCol="0" anchor="ctr"/>
          <a:lstStyle/>
          <a:p>
            <a:pPr indent="0" marL="0">
              <a:buNone/>
            </a:pPr>
            <a:r>
              <a:rPr lang="en-US" sz="1100" dirty="0">
                <a:solidFill>
                  <a:srgbClr val="B0BEC5"/>
                </a:solidFill>
              </a:rPr>
              <a:t>MobileNetV2 → R² 0.223, MAE 149.85 kcal</a:t>
            </a:r>
            <a:endParaRPr lang="en-US" sz="1100" dirty="0"/>
          </a:p>
        </p:txBody>
      </p:sp>
      <p:sp>
        <p:nvSpPr>
          <p:cNvPr id="12" name="Shape 9"/>
          <p:cNvSpPr/>
          <p:nvPr/>
        </p:nvSpPr>
        <p:spPr>
          <a:xfrm>
            <a:off x="457200" y="2084832"/>
            <a:ext cx="164592" cy="164592"/>
          </a:xfrm>
          <a:prstGeom prst="oval">
            <a:avLst/>
          </a:prstGeom>
          <a:solidFill>
            <a:srgbClr val="00796B"/>
          </a:solidFill>
          <a:ln/>
        </p:spPr>
      </p:sp>
      <p:sp>
        <p:nvSpPr>
          <p:cNvPr id="13" name="Text 10"/>
          <p:cNvSpPr/>
          <p:nvPr/>
        </p:nvSpPr>
        <p:spPr>
          <a:xfrm>
            <a:off x="731520" y="2048256"/>
            <a:ext cx="3566160" cy="274320"/>
          </a:xfrm>
          <a:prstGeom prst="rect">
            <a:avLst/>
          </a:prstGeom>
          <a:noFill/>
          <a:ln/>
        </p:spPr>
        <p:txBody>
          <a:bodyPr wrap="square" lIns="0" tIns="0" rIns="0" bIns="0" rtlCol="0" anchor="ctr"/>
          <a:lstStyle/>
          <a:p>
            <a:pPr indent="0" marL="0">
              <a:buNone/>
            </a:pPr>
            <a:r>
              <a:rPr lang="en-US" sz="1100" dirty="0">
                <a:solidFill>
                  <a:srgbClr val="B0BEC5"/>
                </a:solidFill>
              </a:rPr>
              <a:t>CNN wins all 4 accuracy metrics</a:t>
            </a:r>
            <a:endParaRPr lang="en-US" sz="1100" dirty="0"/>
          </a:p>
        </p:txBody>
      </p:sp>
      <p:sp>
        <p:nvSpPr>
          <p:cNvPr id="14" name="Shape 11"/>
          <p:cNvSpPr/>
          <p:nvPr/>
        </p:nvSpPr>
        <p:spPr>
          <a:xfrm>
            <a:off x="457200" y="2414016"/>
            <a:ext cx="164592" cy="164592"/>
          </a:xfrm>
          <a:prstGeom prst="oval">
            <a:avLst/>
          </a:prstGeom>
          <a:solidFill>
            <a:srgbClr val="00796B"/>
          </a:solidFill>
          <a:ln/>
        </p:spPr>
      </p:sp>
      <p:sp>
        <p:nvSpPr>
          <p:cNvPr id="15" name="Text 12"/>
          <p:cNvSpPr/>
          <p:nvPr/>
        </p:nvSpPr>
        <p:spPr>
          <a:xfrm>
            <a:off x="731520" y="2377440"/>
            <a:ext cx="3566160" cy="274320"/>
          </a:xfrm>
          <a:prstGeom prst="rect">
            <a:avLst/>
          </a:prstGeom>
          <a:noFill/>
          <a:ln/>
        </p:spPr>
        <p:txBody>
          <a:bodyPr wrap="square" lIns="0" tIns="0" rIns="0" bIns="0" rtlCol="0" anchor="ctr"/>
          <a:lstStyle/>
          <a:p>
            <a:pPr indent="0" marL="0">
              <a:buNone/>
            </a:pPr>
            <a:r>
              <a:rPr lang="en-US" sz="1100" dirty="0">
                <a:solidFill>
                  <a:srgbClr val="B0BEC5"/>
                </a:solidFill>
              </a:rPr>
              <a:t>MobileNetV2 trains 25% faster, 14× smaller</a:t>
            </a:r>
            <a:endParaRPr lang="en-US" sz="1100" dirty="0"/>
          </a:p>
        </p:txBody>
      </p:sp>
      <p:sp>
        <p:nvSpPr>
          <p:cNvPr id="16" name="Shape 13"/>
          <p:cNvSpPr/>
          <p:nvPr/>
        </p:nvSpPr>
        <p:spPr>
          <a:xfrm>
            <a:off x="457200" y="2743200"/>
            <a:ext cx="164592" cy="164592"/>
          </a:xfrm>
          <a:prstGeom prst="oval">
            <a:avLst/>
          </a:prstGeom>
          <a:solidFill>
            <a:srgbClr val="00796B"/>
          </a:solidFill>
          <a:ln/>
        </p:spPr>
      </p:sp>
      <p:sp>
        <p:nvSpPr>
          <p:cNvPr id="17" name="Text 14"/>
          <p:cNvSpPr/>
          <p:nvPr/>
        </p:nvSpPr>
        <p:spPr>
          <a:xfrm>
            <a:off x="731520" y="2706624"/>
            <a:ext cx="3566160" cy="274320"/>
          </a:xfrm>
          <a:prstGeom prst="rect">
            <a:avLst/>
          </a:prstGeom>
          <a:noFill/>
          <a:ln/>
        </p:spPr>
        <p:txBody>
          <a:bodyPr wrap="square" lIns="0" tIns="0" rIns="0" bIns="0" rtlCol="0" anchor="ctr"/>
          <a:lstStyle/>
          <a:p>
            <a:pPr indent="0" marL="0">
              <a:buNone/>
            </a:pPr>
            <a:r>
              <a:rPr lang="en-US" sz="1100" b="1" dirty="0">
                <a:solidFill>
                  <a:srgbClr val="FF6F00"/>
                </a:solidFill>
              </a:rPr>
              <a:t>Streamlit app deployed — bonus complete ⭐</a:t>
            </a:r>
            <a:endParaRPr lang="en-US" sz="1100" dirty="0"/>
          </a:p>
        </p:txBody>
      </p:sp>
      <p:sp>
        <p:nvSpPr>
          <p:cNvPr id="18" name="Shape 15"/>
          <p:cNvSpPr/>
          <p:nvPr/>
        </p:nvSpPr>
        <p:spPr>
          <a:xfrm>
            <a:off x="4709160" y="822960"/>
            <a:ext cx="4114800" cy="228600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9" name="Shape 16"/>
          <p:cNvSpPr/>
          <p:nvPr/>
        </p:nvSpPr>
        <p:spPr>
          <a:xfrm>
            <a:off x="4828032" y="914400"/>
            <a:ext cx="457200" cy="457200"/>
          </a:xfrm>
          <a:prstGeom prst="oval">
            <a:avLst/>
          </a:prstGeom>
          <a:solidFill>
            <a:srgbClr val="FF6F00"/>
          </a:solidFill>
          <a:ln/>
        </p:spPr>
      </p:sp>
      <p:pic>
        <p:nvPicPr>
          <p:cNvPr id="20" name="Image 1" descr="preencoded.png">    </p:cNvPr>
          <p:cNvPicPr>
            <a:picLocks noChangeAspect="1"/>
          </p:cNvPicPr>
          <p:nvPr/>
        </p:nvPicPr>
        <p:blipFill>
          <a:blip r:embed="rId2"/>
          <a:stretch>
            <a:fillRect/>
          </a:stretch>
        </p:blipFill>
        <p:spPr>
          <a:xfrm>
            <a:off x="4864608" y="950976"/>
            <a:ext cx="384048" cy="384048"/>
          </a:xfrm>
          <a:prstGeom prst="rect">
            <a:avLst/>
          </a:prstGeom>
        </p:spPr>
      </p:pic>
      <p:sp>
        <p:nvSpPr>
          <p:cNvPr id="21" name="Text 17"/>
          <p:cNvSpPr/>
          <p:nvPr/>
        </p:nvSpPr>
        <p:spPr>
          <a:xfrm>
            <a:off x="5394960" y="932688"/>
            <a:ext cx="3200400" cy="329184"/>
          </a:xfrm>
          <a:prstGeom prst="rect">
            <a:avLst/>
          </a:prstGeom>
          <a:noFill/>
          <a:ln/>
        </p:spPr>
        <p:txBody>
          <a:bodyPr wrap="square" lIns="0" tIns="0" rIns="0" bIns="0" rtlCol="0" anchor="ctr"/>
          <a:lstStyle/>
          <a:p>
            <a:pPr indent="0" marL="0">
              <a:buNone/>
            </a:pPr>
            <a:r>
              <a:rPr lang="en-US" sz="1400" b="1" dirty="0">
                <a:solidFill>
                  <a:srgbClr val="FFFFFF"/>
                </a:solidFill>
              </a:rPr>
              <a:t>Limitations</a:t>
            </a:r>
            <a:endParaRPr lang="en-US" sz="1400" dirty="0"/>
          </a:p>
        </p:txBody>
      </p:sp>
      <p:sp>
        <p:nvSpPr>
          <p:cNvPr id="22" name="Shape 18"/>
          <p:cNvSpPr/>
          <p:nvPr/>
        </p:nvSpPr>
        <p:spPr>
          <a:xfrm>
            <a:off x="4846320" y="1426464"/>
            <a:ext cx="164592" cy="164592"/>
          </a:xfrm>
          <a:prstGeom prst="oval">
            <a:avLst/>
          </a:prstGeom>
          <a:solidFill>
            <a:srgbClr val="FF6F00"/>
          </a:solidFill>
          <a:ln/>
        </p:spPr>
      </p:sp>
      <p:sp>
        <p:nvSpPr>
          <p:cNvPr id="23" name="Text 19"/>
          <p:cNvSpPr/>
          <p:nvPr/>
        </p:nvSpPr>
        <p:spPr>
          <a:xfrm>
            <a:off x="5120640" y="1389888"/>
            <a:ext cx="3566160" cy="329184"/>
          </a:xfrm>
          <a:prstGeom prst="rect">
            <a:avLst/>
          </a:prstGeom>
          <a:noFill/>
          <a:ln/>
        </p:spPr>
        <p:txBody>
          <a:bodyPr wrap="square" lIns="0" tIns="0" rIns="0" bIns="0" rtlCol="0" anchor="ctr"/>
          <a:lstStyle/>
          <a:p>
            <a:pPr indent="0" marL="0">
              <a:buNone/>
            </a:pPr>
            <a:r>
              <a:rPr lang="en-US" sz="1100" dirty="0">
                <a:solidFill>
                  <a:srgbClr val="B0BEC5"/>
                </a:solidFill>
              </a:rPr>
              <a:t>Only 1,021 images — high calorie variance</a:t>
            </a:r>
            <a:endParaRPr lang="en-US" sz="1100" dirty="0"/>
          </a:p>
        </p:txBody>
      </p:sp>
      <p:sp>
        <p:nvSpPr>
          <p:cNvPr id="24" name="Shape 20"/>
          <p:cNvSpPr/>
          <p:nvPr/>
        </p:nvSpPr>
        <p:spPr>
          <a:xfrm>
            <a:off x="4846320" y="1837944"/>
            <a:ext cx="164592" cy="164592"/>
          </a:xfrm>
          <a:prstGeom prst="oval">
            <a:avLst/>
          </a:prstGeom>
          <a:solidFill>
            <a:srgbClr val="FF6F00"/>
          </a:solidFill>
          <a:ln/>
        </p:spPr>
      </p:sp>
      <p:sp>
        <p:nvSpPr>
          <p:cNvPr id="25" name="Text 21"/>
          <p:cNvSpPr/>
          <p:nvPr/>
        </p:nvSpPr>
        <p:spPr>
          <a:xfrm>
            <a:off x="5120640" y="1801368"/>
            <a:ext cx="3566160" cy="329184"/>
          </a:xfrm>
          <a:prstGeom prst="rect">
            <a:avLst/>
          </a:prstGeom>
          <a:noFill/>
          <a:ln/>
        </p:spPr>
        <p:txBody>
          <a:bodyPr wrap="square" lIns="0" tIns="0" rIns="0" bIns="0" rtlCol="0" anchor="ctr"/>
          <a:lstStyle/>
          <a:p>
            <a:pPr indent="0" marL="0">
              <a:buNone/>
            </a:pPr>
            <a:r>
              <a:rPr lang="en-US" sz="1100" dirty="0">
                <a:solidFill>
                  <a:srgbClr val="B0BEC5"/>
                </a:solidFill>
              </a:rPr>
              <a:t>2D overhead → no depth/weight info</a:t>
            </a:r>
            <a:endParaRPr lang="en-US" sz="1100" dirty="0"/>
          </a:p>
        </p:txBody>
      </p:sp>
      <p:sp>
        <p:nvSpPr>
          <p:cNvPr id="26" name="Shape 22"/>
          <p:cNvSpPr/>
          <p:nvPr/>
        </p:nvSpPr>
        <p:spPr>
          <a:xfrm>
            <a:off x="4846320" y="2249424"/>
            <a:ext cx="164592" cy="164592"/>
          </a:xfrm>
          <a:prstGeom prst="oval">
            <a:avLst/>
          </a:prstGeom>
          <a:solidFill>
            <a:srgbClr val="FF6F00"/>
          </a:solidFill>
          <a:ln/>
        </p:spPr>
      </p:sp>
      <p:sp>
        <p:nvSpPr>
          <p:cNvPr id="27" name="Text 23"/>
          <p:cNvSpPr/>
          <p:nvPr/>
        </p:nvSpPr>
        <p:spPr>
          <a:xfrm>
            <a:off x="5120640" y="2212848"/>
            <a:ext cx="3566160" cy="329184"/>
          </a:xfrm>
          <a:prstGeom prst="rect">
            <a:avLst/>
          </a:prstGeom>
          <a:noFill/>
          <a:ln/>
        </p:spPr>
        <p:txBody>
          <a:bodyPr wrap="square" lIns="0" tIns="0" rIns="0" bIns="0" rtlCol="0" anchor="ctr"/>
          <a:lstStyle/>
          <a:p>
            <a:pPr indent="0" marL="0">
              <a:buNone/>
            </a:pPr>
            <a:r>
              <a:rPr lang="en-US" sz="1100" dirty="0">
                <a:solidFill>
                  <a:srgbClr val="B0BEC5"/>
                </a:solidFill>
              </a:rPr>
              <a:t>MobileNetV2 needed more fine-tuning epochs</a:t>
            </a:r>
            <a:endParaRPr lang="en-US" sz="1100" dirty="0"/>
          </a:p>
        </p:txBody>
      </p:sp>
      <p:sp>
        <p:nvSpPr>
          <p:cNvPr id="28" name="Shape 24"/>
          <p:cNvSpPr/>
          <p:nvPr/>
        </p:nvSpPr>
        <p:spPr>
          <a:xfrm>
            <a:off x="4846320" y="2660904"/>
            <a:ext cx="164592" cy="164592"/>
          </a:xfrm>
          <a:prstGeom prst="oval">
            <a:avLst/>
          </a:prstGeom>
          <a:solidFill>
            <a:srgbClr val="FF6F00"/>
          </a:solidFill>
          <a:ln/>
        </p:spPr>
      </p:sp>
      <p:sp>
        <p:nvSpPr>
          <p:cNvPr id="29" name="Text 25"/>
          <p:cNvSpPr/>
          <p:nvPr/>
        </p:nvSpPr>
        <p:spPr>
          <a:xfrm>
            <a:off x="5120640" y="2624328"/>
            <a:ext cx="3566160" cy="329184"/>
          </a:xfrm>
          <a:prstGeom prst="rect">
            <a:avLst/>
          </a:prstGeom>
          <a:noFill/>
          <a:ln/>
        </p:spPr>
        <p:txBody>
          <a:bodyPr wrap="square" lIns="0" tIns="0" rIns="0" bIns="0" rtlCol="0" anchor="ctr"/>
          <a:lstStyle/>
          <a:p>
            <a:pPr indent="0" marL="0">
              <a:buNone/>
            </a:pPr>
            <a:r>
              <a:rPr lang="en-US" sz="1100" dirty="0">
                <a:solidFill>
                  <a:srgbClr val="B0BEC5"/>
                </a:solidFill>
              </a:rPr>
              <a:t>Classification pretraining ≠ regression task</a:t>
            </a:r>
            <a:endParaRPr lang="en-US" sz="1100" dirty="0"/>
          </a:p>
        </p:txBody>
      </p:sp>
      <p:sp>
        <p:nvSpPr>
          <p:cNvPr id="30" name="Shape 26"/>
          <p:cNvSpPr/>
          <p:nvPr/>
        </p:nvSpPr>
        <p:spPr>
          <a:xfrm>
            <a:off x="320040" y="3246120"/>
            <a:ext cx="8503920" cy="1691640"/>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31" name="Shape 27"/>
          <p:cNvSpPr/>
          <p:nvPr/>
        </p:nvSpPr>
        <p:spPr>
          <a:xfrm>
            <a:off x="438912" y="3337560"/>
            <a:ext cx="457200" cy="457200"/>
          </a:xfrm>
          <a:prstGeom prst="oval">
            <a:avLst/>
          </a:prstGeom>
          <a:solidFill>
            <a:srgbClr val="4DB6AC"/>
          </a:solidFill>
          <a:ln/>
        </p:spPr>
      </p:sp>
      <p:pic>
        <p:nvPicPr>
          <p:cNvPr id="32" name="Image 2" descr="preencoded.png">    </p:cNvPr>
          <p:cNvPicPr>
            <a:picLocks noChangeAspect="1"/>
          </p:cNvPicPr>
          <p:nvPr/>
        </p:nvPicPr>
        <p:blipFill>
          <a:blip r:embed="rId3"/>
          <a:stretch>
            <a:fillRect/>
          </a:stretch>
        </p:blipFill>
        <p:spPr>
          <a:xfrm>
            <a:off x="475488" y="3374136"/>
            <a:ext cx="384048" cy="384048"/>
          </a:xfrm>
          <a:prstGeom prst="rect">
            <a:avLst/>
          </a:prstGeom>
        </p:spPr>
      </p:pic>
      <p:sp>
        <p:nvSpPr>
          <p:cNvPr id="33" name="Text 28"/>
          <p:cNvSpPr/>
          <p:nvPr/>
        </p:nvSpPr>
        <p:spPr>
          <a:xfrm>
            <a:off x="1005840" y="3355848"/>
            <a:ext cx="3657600" cy="329184"/>
          </a:xfrm>
          <a:prstGeom prst="rect">
            <a:avLst/>
          </a:prstGeom>
          <a:noFill/>
          <a:ln/>
        </p:spPr>
        <p:txBody>
          <a:bodyPr wrap="square" lIns="0" tIns="0" rIns="0" bIns="0" rtlCol="0" anchor="ctr"/>
          <a:lstStyle/>
          <a:p>
            <a:pPr indent="0" marL="0">
              <a:buNone/>
            </a:pPr>
            <a:r>
              <a:rPr lang="en-US" sz="1400" b="1" dirty="0">
                <a:solidFill>
                  <a:srgbClr val="FFFFFF"/>
                </a:solidFill>
              </a:rPr>
              <a:t>Future Recommendations</a:t>
            </a:r>
            <a:endParaRPr lang="en-US" sz="1400" dirty="0"/>
          </a:p>
        </p:txBody>
      </p:sp>
      <p:sp>
        <p:nvSpPr>
          <p:cNvPr id="34" name="Shape 29"/>
          <p:cNvSpPr/>
          <p:nvPr/>
        </p:nvSpPr>
        <p:spPr>
          <a:xfrm>
            <a:off x="457200" y="3867912"/>
            <a:ext cx="146304" cy="146304"/>
          </a:xfrm>
          <a:prstGeom prst="rect">
            <a:avLst/>
          </a:prstGeom>
          <a:solidFill>
            <a:srgbClr val="4DB6AC"/>
          </a:solidFill>
          <a:ln/>
        </p:spPr>
      </p:sp>
      <p:sp>
        <p:nvSpPr>
          <p:cNvPr id="35" name="Text 30"/>
          <p:cNvSpPr/>
          <p:nvPr/>
        </p:nvSpPr>
        <p:spPr>
          <a:xfrm>
            <a:off x="694944" y="3794760"/>
            <a:ext cx="3931920" cy="310896"/>
          </a:xfrm>
          <a:prstGeom prst="rect">
            <a:avLst/>
          </a:prstGeom>
          <a:noFill/>
          <a:ln/>
        </p:spPr>
        <p:txBody>
          <a:bodyPr wrap="square" lIns="0" tIns="0" rIns="0" bIns="0" rtlCol="0" anchor="ctr"/>
          <a:lstStyle/>
          <a:p>
            <a:pPr indent="0" marL="0">
              <a:buNone/>
            </a:pPr>
            <a:r>
              <a:rPr lang="en-US" sz="1050" dirty="0">
                <a:solidFill>
                  <a:srgbClr val="B0BEC5"/>
                </a:solidFill>
              </a:rPr>
              <a:t>Expand dataset — download more Nutrition5k files toward full 5k images</a:t>
            </a:r>
            <a:endParaRPr lang="en-US" sz="1050" dirty="0"/>
          </a:p>
        </p:txBody>
      </p:sp>
      <p:sp>
        <p:nvSpPr>
          <p:cNvPr id="36" name="Shape 31"/>
          <p:cNvSpPr/>
          <p:nvPr/>
        </p:nvSpPr>
        <p:spPr>
          <a:xfrm>
            <a:off x="457200" y="4215384"/>
            <a:ext cx="146304" cy="146304"/>
          </a:xfrm>
          <a:prstGeom prst="rect">
            <a:avLst/>
          </a:prstGeom>
          <a:solidFill>
            <a:srgbClr val="4DB6AC"/>
          </a:solidFill>
          <a:ln/>
        </p:spPr>
      </p:sp>
      <p:sp>
        <p:nvSpPr>
          <p:cNvPr id="37" name="Text 32"/>
          <p:cNvSpPr/>
          <p:nvPr/>
        </p:nvSpPr>
        <p:spPr>
          <a:xfrm>
            <a:off x="694944" y="4142232"/>
            <a:ext cx="3931920" cy="310896"/>
          </a:xfrm>
          <a:prstGeom prst="rect">
            <a:avLst/>
          </a:prstGeom>
          <a:noFill/>
          <a:ln/>
        </p:spPr>
        <p:txBody>
          <a:bodyPr wrap="square" lIns="0" tIns="0" rIns="0" bIns="0" rtlCol="0" anchor="ctr"/>
          <a:lstStyle/>
          <a:p>
            <a:pPr indent="0" marL="0">
              <a:buNone/>
            </a:pPr>
            <a:r>
              <a:rPr lang="en-US" sz="1050" dirty="0">
                <a:solidFill>
                  <a:srgbClr val="B0BEC5"/>
                </a:solidFill>
              </a:rPr>
              <a:t>Try EfficientNet-B0 or ResNet50 as alternative transfer learning backbones</a:t>
            </a:r>
            <a:endParaRPr lang="en-US" sz="1050" dirty="0"/>
          </a:p>
        </p:txBody>
      </p:sp>
      <p:sp>
        <p:nvSpPr>
          <p:cNvPr id="38" name="Shape 33"/>
          <p:cNvSpPr/>
          <p:nvPr/>
        </p:nvSpPr>
        <p:spPr>
          <a:xfrm>
            <a:off x="457200" y="4562856"/>
            <a:ext cx="146304" cy="146304"/>
          </a:xfrm>
          <a:prstGeom prst="rect">
            <a:avLst/>
          </a:prstGeom>
          <a:solidFill>
            <a:srgbClr val="4DB6AC"/>
          </a:solidFill>
          <a:ln/>
        </p:spPr>
      </p:sp>
      <p:sp>
        <p:nvSpPr>
          <p:cNvPr id="39" name="Text 34"/>
          <p:cNvSpPr/>
          <p:nvPr/>
        </p:nvSpPr>
        <p:spPr>
          <a:xfrm>
            <a:off x="694944" y="4489704"/>
            <a:ext cx="3931920" cy="310896"/>
          </a:xfrm>
          <a:prstGeom prst="rect">
            <a:avLst/>
          </a:prstGeom>
          <a:noFill/>
          <a:ln/>
        </p:spPr>
        <p:txBody>
          <a:bodyPr wrap="square" lIns="0" tIns="0" rIns="0" bIns="0" rtlCol="0" anchor="ctr"/>
          <a:lstStyle/>
          <a:p>
            <a:pPr indent="0" marL="0">
              <a:buNone/>
            </a:pPr>
            <a:r>
              <a:rPr lang="en-US" sz="1050" dirty="0">
                <a:solidFill>
                  <a:srgbClr val="B0BEC5"/>
                </a:solidFill>
              </a:rPr>
              <a:t>Explore multi-task learning: predict protein, fat, carbs alongside calories</a:t>
            </a:r>
            <a:endParaRPr lang="en-US" sz="1050" dirty="0"/>
          </a:p>
        </p:txBody>
      </p:sp>
      <p:sp>
        <p:nvSpPr>
          <p:cNvPr id="40" name="Shape 35"/>
          <p:cNvSpPr/>
          <p:nvPr/>
        </p:nvSpPr>
        <p:spPr>
          <a:xfrm>
            <a:off x="4754880" y="3867912"/>
            <a:ext cx="146304" cy="146304"/>
          </a:xfrm>
          <a:prstGeom prst="rect">
            <a:avLst/>
          </a:prstGeom>
          <a:solidFill>
            <a:srgbClr val="4DB6AC"/>
          </a:solidFill>
          <a:ln/>
        </p:spPr>
      </p:sp>
      <p:sp>
        <p:nvSpPr>
          <p:cNvPr id="41" name="Text 36"/>
          <p:cNvSpPr/>
          <p:nvPr/>
        </p:nvSpPr>
        <p:spPr>
          <a:xfrm>
            <a:off x="4992624" y="3794760"/>
            <a:ext cx="3931920" cy="310896"/>
          </a:xfrm>
          <a:prstGeom prst="rect">
            <a:avLst/>
          </a:prstGeom>
          <a:noFill/>
          <a:ln/>
        </p:spPr>
        <p:txBody>
          <a:bodyPr wrap="square" lIns="0" tIns="0" rIns="0" bIns="0" rtlCol="0" anchor="ctr"/>
          <a:lstStyle/>
          <a:p>
            <a:pPr indent="0" marL="0">
              <a:buNone/>
            </a:pPr>
            <a:r>
              <a:rPr lang="en-US" sz="1050" dirty="0">
                <a:solidFill>
                  <a:srgbClr val="B0BEC5"/>
                </a:solidFill>
              </a:rPr>
              <a:t>Add depth map or weight as auxiliary inputs</a:t>
            </a:r>
            <a:endParaRPr lang="en-US" sz="1050" dirty="0"/>
          </a:p>
        </p:txBody>
      </p:sp>
      <p:sp>
        <p:nvSpPr>
          <p:cNvPr id="42" name="Shape 37"/>
          <p:cNvSpPr/>
          <p:nvPr/>
        </p:nvSpPr>
        <p:spPr>
          <a:xfrm>
            <a:off x="4754880" y="4215384"/>
            <a:ext cx="146304" cy="146304"/>
          </a:xfrm>
          <a:prstGeom prst="rect">
            <a:avLst/>
          </a:prstGeom>
          <a:solidFill>
            <a:srgbClr val="4DB6AC"/>
          </a:solidFill>
          <a:ln/>
        </p:spPr>
      </p:sp>
      <p:sp>
        <p:nvSpPr>
          <p:cNvPr id="43" name="Text 38"/>
          <p:cNvSpPr/>
          <p:nvPr/>
        </p:nvSpPr>
        <p:spPr>
          <a:xfrm>
            <a:off x="4992624" y="4142232"/>
            <a:ext cx="3931920" cy="310896"/>
          </a:xfrm>
          <a:prstGeom prst="rect">
            <a:avLst/>
          </a:prstGeom>
          <a:noFill/>
          <a:ln/>
        </p:spPr>
        <p:txBody>
          <a:bodyPr wrap="square" lIns="0" tIns="0" rIns="0" bIns="0" rtlCol="0" anchor="ctr"/>
          <a:lstStyle/>
          <a:p>
            <a:pPr indent="0" marL="0">
              <a:buNone/>
            </a:pPr>
            <a:r>
              <a:rPr lang="en-US" sz="1050" dirty="0">
                <a:solidFill>
                  <a:srgbClr val="B0BEC5"/>
                </a:solidFill>
              </a:rPr>
              <a:t>Deploy app publicly via Streamlit Community Cloud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0796B"/>
          </a:solidFill>
          <a:ln/>
        </p:spPr>
      </p:sp>
      <p:sp>
        <p:nvSpPr>
          <p:cNvPr id="3" name="Shape 1"/>
          <p:cNvSpPr/>
          <p:nvPr/>
        </p:nvSpPr>
        <p:spPr>
          <a:xfrm>
            <a:off x="3474720" y="0"/>
            <a:ext cx="54864" cy="5143500"/>
          </a:xfrm>
          <a:prstGeom prst="rect">
            <a:avLst/>
          </a:prstGeom>
          <a:solidFill>
            <a:srgbClr val="FF6F00"/>
          </a:solidFill>
          <a:ln/>
        </p:spPr>
      </p:sp>
      <p:pic>
        <p:nvPicPr>
          <p:cNvPr id="4" name="Image 0" descr="preencoded.png">    </p:cNvPr>
          <p:cNvPicPr>
            <a:picLocks noChangeAspect="1"/>
          </p:cNvPicPr>
          <p:nvPr/>
        </p:nvPicPr>
        <p:blipFill>
          <a:blip r:embed="rId1"/>
          <a:stretch>
            <a:fillRect/>
          </a:stretch>
        </p:blipFill>
        <p:spPr>
          <a:xfrm>
            <a:off x="1188720" y="1005840"/>
            <a:ext cx="1097280" cy="1097280"/>
          </a:xfrm>
          <a:prstGeom prst="rect">
            <a:avLst/>
          </a:prstGeom>
        </p:spPr>
      </p:pic>
      <p:sp>
        <p:nvSpPr>
          <p:cNvPr id="5" name="Text 2"/>
          <p:cNvSpPr/>
          <p:nvPr/>
        </p:nvSpPr>
        <p:spPr>
          <a:xfrm>
            <a:off x="91440" y="2377440"/>
            <a:ext cx="3291840" cy="914400"/>
          </a:xfrm>
          <a:prstGeom prst="rect">
            <a:avLst/>
          </a:prstGeom>
          <a:noFill/>
          <a:ln/>
        </p:spPr>
        <p:txBody>
          <a:bodyPr wrap="square" rtlCol="0" anchor="ctr"/>
          <a:lstStyle/>
          <a:p>
            <a:pPr algn="ctr" indent="0" marL="0">
              <a:buNone/>
            </a:pPr>
            <a:r>
              <a:rPr lang="en-US" sz="1800" b="1" dirty="0">
                <a:solidFill>
                  <a:srgbClr val="FFFFFF"/>
                </a:solidFill>
              </a:rPr>
              <a:t>Food Calorie</a:t>
            </a:r>
            <a:endParaRPr lang="en-US" sz="1800" dirty="0"/>
          </a:p>
          <a:p>
            <a:pPr algn="ctr" indent="0" marL="0">
              <a:buNone/>
            </a:pPr>
            <a:r>
              <a:rPr lang="en-US" sz="1800" b="1" dirty="0">
                <a:solidFill>
                  <a:srgbClr val="FFFFFF"/>
                </a:solidFill>
              </a:rPr>
              <a:t>Estimator</a:t>
            </a:r>
            <a:endParaRPr lang="en-US" sz="1800" dirty="0"/>
          </a:p>
        </p:txBody>
      </p:sp>
      <p:sp>
        <p:nvSpPr>
          <p:cNvPr id="6" name="Text 3"/>
          <p:cNvSpPr/>
          <p:nvPr/>
        </p:nvSpPr>
        <p:spPr>
          <a:xfrm>
            <a:off x="91440" y="3401568"/>
            <a:ext cx="3291840" cy="640080"/>
          </a:xfrm>
          <a:prstGeom prst="rect">
            <a:avLst/>
          </a:prstGeom>
          <a:noFill/>
          <a:ln/>
        </p:spPr>
        <p:txBody>
          <a:bodyPr wrap="square" rtlCol="0" anchor="ctr"/>
          <a:lstStyle/>
          <a:p>
            <a:pPr algn="ctr" indent="0" marL="0">
              <a:buNone/>
            </a:pPr>
            <a:r>
              <a:rPr lang="en-US" sz="1000" dirty="0">
                <a:solidFill>
                  <a:srgbClr val="B2DFDB"/>
                </a:solidFill>
              </a:rPr>
              <a:t>github.com/Mariam-Nassar/</a:t>
            </a:r>
            <a:endParaRPr lang="en-US" sz="1000" dirty="0"/>
          </a:p>
          <a:p>
            <a:pPr algn="ctr" indent="0" marL="0">
              <a:buNone/>
            </a:pPr>
            <a:r>
              <a:rPr lang="en-US" sz="1000" dirty="0">
                <a:solidFill>
                  <a:srgbClr val="B2DFDB"/>
                </a:solidFill>
              </a:rPr>
              <a:t>Food-Calorie-Estimator</a:t>
            </a:r>
            <a:endParaRPr lang="en-US" sz="1000" dirty="0"/>
          </a:p>
        </p:txBody>
      </p:sp>
      <p:sp>
        <p:nvSpPr>
          <p:cNvPr id="7" name="Text 4"/>
          <p:cNvSpPr/>
          <p:nvPr/>
        </p:nvSpPr>
        <p:spPr>
          <a:xfrm>
            <a:off x="3840480" y="914400"/>
            <a:ext cx="5120640" cy="1005840"/>
          </a:xfrm>
          <a:prstGeom prst="rect">
            <a:avLst/>
          </a:prstGeom>
          <a:noFill/>
          <a:ln/>
        </p:spPr>
        <p:txBody>
          <a:bodyPr wrap="square" rtlCol="0" anchor="ctr"/>
          <a:lstStyle/>
          <a:p>
            <a:pPr algn="l" indent="0" marL="0">
              <a:buNone/>
            </a:pPr>
            <a:r>
              <a:rPr lang="en-US" sz="5200" b="1" dirty="0">
                <a:solidFill>
                  <a:srgbClr val="FFFFFF"/>
                </a:solidFill>
              </a:rPr>
              <a:t>Thank You!</a:t>
            </a:r>
            <a:endParaRPr lang="en-US" sz="5200" dirty="0"/>
          </a:p>
        </p:txBody>
      </p:sp>
      <p:sp>
        <p:nvSpPr>
          <p:cNvPr id="8" name="Text 5"/>
          <p:cNvSpPr/>
          <p:nvPr/>
        </p:nvSpPr>
        <p:spPr>
          <a:xfrm>
            <a:off x="3840480" y="1874520"/>
            <a:ext cx="5120640" cy="594360"/>
          </a:xfrm>
          <a:prstGeom prst="rect">
            <a:avLst/>
          </a:prstGeom>
          <a:noFill/>
          <a:ln/>
        </p:spPr>
        <p:txBody>
          <a:bodyPr wrap="square" rtlCol="0" anchor="ctr"/>
          <a:lstStyle/>
          <a:p>
            <a:pPr algn="l" indent="0" marL="0">
              <a:buNone/>
            </a:pPr>
            <a:r>
              <a:rPr lang="en-US" sz="2800" dirty="0">
                <a:solidFill>
                  <a:srgbClr val="4DB6AC"/>
                </a:solidFill>
              </a:rPr>
              <a:t>Questions?</a:t>
            </a:r>
            <a:endParaRPr lang="en-US" sz="2800" dirty="0"/>
          </a:p>
        </p:txBody>
      </p:sp>
      <p:sp>
        <p:nvSpPr>
          <p:cNvPr id="9" name="Shape 6"/>
          <p:cNvSpPr/>
          <p:nvPr/>
        </p:nvSpPr>
        <p:spPr>
          <a:xfrm>
            <a:off x="3840480" y="2606040"/>
            <a:ext cx="1207008" cy="804672"/>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0" name="Text 7"/>
          <p:cNvSpPr/>
          <p:nvPr/>
        </p:nvSpPr>
        <p:spPr>
          <a:xfrm>
            <a:off x="3840480" y="2624328"/>
            <a:ext cx="1207008" cy="475488"/>
          </a:xfrm>
          <a:prstGeom prst="rect">
            <a:avLst/>
          </a:prstGeom>
          <a:noFill/>
          <a:ln/>
        </p:spPr>
        <p:txBody>
          <a:bodyPr wrap="square" lIns="0" tIns="0" rIns="0" bIns="0" rtlCol="0" anchor="b"/>
          <a:lstStyle/>
          <a:p>
            <a:pPr algn="ctr" indent="0" marL="0">
              <a:buNone/>
            </a:pPr>
            <a:r>
              <a:rPr lang="en-US" sz="2000" b="1" dirty="0">
                <a:solidFill>
                  <a:srgbClr val="4DB6AC"/>
                </a:solidFill>
              </a:rPr>
              <a:t>1,021</a:t>
            </a:r>
            <a:endParaRPr lang="en-US" sz="2000" dirty="0"/>
          </a:p>
        </p:txBody>
      </p:sp>
      <p:sp>
        <p:nvSpPr>
          <p:cNvPr id="11" name="Text 8"/>
          <p:cNvSpPr/>
          <p:nvPr/>
        </p:nvSpPr>
        <p:spPr>
          <a:xfrm>
            <a:off x="3840480" y="3099816"/>
            <a:ext cx="1207008" cy="274320"/>
          </a:xfrm>
          <a:prstGeom prst="rect">
            <a:avLst/>
          </a:prstGeom>
          <a:noFill/>
          <a:ln/>
        </p:spPr>
        <p:txBody>
          <a:bodyPr wrap="square" lIns="0" tIns="0" rIns="0" bIns="0" rtlCol="0" anchor="t"/>
          <a:lstStyle/>
          <a:p>
            <a:pPr algn="ctr" indent="0" marL="0">
              <a:buNone/>
            </a:pPr>
            <a:r>
              <a:rPr lang="en-US" sz="1000" dirty="0">
                <a:solidFill>
                  <a:srgbClr val="B0BEC5"/>
                </a:solidFill>
              </a:rPr>
              <a:t>Images</a:t>
            </a:r>
            <a:endParaRPr lang="en-US" sz="1000" dirty="0"/>
          </a:p>
        </p:txBody>
      </p:sp>
      <p:sp>
        <p:nvSpPr>
          <p:cNvPr id="12" name="Shape 9"/>
          <p:cNvSpPr/>
          <p:nvPr/>
        </p:nvSpPr>
        <p:spPr>
          <a:xfrm>
            <a:off x="5138928" y="2606040"/>
            <a:ext cx="1207008" cy="804672"/>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3" name="Text 10"/>
          <p:cNvSpPr/>
          <p:nvPr/>
        </p:nvSpPr>
        <p:spPr>
          <a:xfrm>
            <a:off x="5138928" y="2624328"/>
            <a:ext cx="1207008" cy="475488"/>
          </a:xfrm>
          <a:prstGeom prst="rect">
            <a:avLst/>
          </a:prstGeom>
          <a:noFill/>
          <a:ln/>
        </p:spPr>
        <p:txBody>
          <a:bodyPr wrap="square" lIns="0" tIns="0" rIns="0" bIns="0" rtlCol="0" anchor="b"/>
          <a:lstStyle/>
          <a:p>
            <a:pPr algn="ctr" indent="0" marL="0">
              <a:buNone/>
            </a:pPr>
            <a:r>
              <a:rPr lang="en-US" sz="2000" b="1" dirty="0">
                <a:solidFill>
                  <a:srgbClr val="4DB6AC"/>
                </a:solidFill>
              </a:rPr>
              <a:t>0.604</a:t>
            </a:r>
            <a:endParaRPr lang="en-US" sz="2000" dirty="0"/>
          </a:p>
        </p:txBody>
      </p:sp>
      <p:sp>
        <p:nvSpPr>
          <p:cNvPr id="14" name="Text 11"/>
          <p:cNvSpPr/>
          <p:nvPr/>
        </p:nvSpPr>
        <p:spPr>
          <a:xfrm>
            <a:off x="5138928" y="3099816"/>
            <a:ext cx="1207008" cy="274320"/>
          </a:xfrm>
          <a:prstGeom prst="rect">
            <a:avLst/>
          </a:prstGeom>
          <a:noFill/>
          <a:ln/>
        </p:spPr>
        <p:txBody>
          <a:bodyPr wrap="square" lIns="0" tIns="0" rIns="0" bIns="0" rtlCol="0" anchor="t"/>
          <a:lstStyle/>
          <a:p>
            <a:pPr algn="ctr" indent="0" marL="0">
              <a:buNone/>
            </a:pPr>
            <a:r>
              <a:rPr lang="en-US" sz="1000" dirty="0">
                <a:solidFill>
                  <a:srgbClr val="B0BEC5"/>
                </a:solidFill>
              </a:rPr>
              <a:t>Best R²</a:t>
            </a:r>
            <a:endParaRPr lang="en-US" sz="1000" dirty="0"/>
          </a:p>
        </p:txBody>
      </p:sp>
      <p:sp>
        <p:nvSpPr>
          <p:cNvPr id="15" name="Shape 12"/>
          <p:cNvSpPr/>
          <p:nvPr/>
        </p:nvSpPr>
        <p:spPr>
          <a:xfrm>
            <a:off x="6437376" y="2606040"/>
            <a:ext cx="1207008" cy="804672"/>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6" name="Text 13"/>
          <p:cNvSpPr/>
          <p:nvPr/>
        </p:nvSpPr>
        <p:spPr>
          <a:xfrm>
            <a:off x="6437376" y="2624328"/>
            <a:ext cx="1207008" cy="475488"/>
          </a:xfrm>
          <a:prstGeom prst="rect">
            <a:avLst/>
          </a:prstGeom>
          <a:noFill/>
          <a:ln/>
        </p:spPr>
        <p:txBody>
          <a:bodyPr wrap="square" lIns="0" tIns="0" rIns="0" bIns="0" rtlCol="0" anchor="b"/>
          <a:lstStyle/>
          <a:p>
            <a:pPr algn="ctr" indent="0" marL="0">
              <a:buNone/>
            </a:pPr>
            <a:r>
              <a:rPr lang="en-US" sz="2000" b="1" dirty="0">
                <a:solidFill>
                  <a:srgbClr val="4DB6AC"/>
                </a:solidFill>
              </a:rPr>
              <a:t>104.91</a:t>
            </a:r>
            <a:endParaRPr lang="en-US" sz="2000" dirty="0"/>
          </a:p>
        </p:txBody>
      </p:sp>
      <p:sp>
        <p:nvSpPr>
          <p:cNvPr id="17" name="Text 14"/>
          <p:cNvSpPr/>
          <p:nvPr/>
        </p:nvSpPr>
        <p:spPr>
          <a:xfrm>
            <a:off x="6437376" y="3099816"/>
            <a:ext cx="1207008" cy="274320"/>
          </a:xfrm>
          <a:prstGeom prst="rect">
            <a:avLst/>
          </a:prstGeom>
          <a:noFill/>
          <a:ln/>
        </p:spPr>
        <p:txBody>
          <a:bodyPr wrap="square" lIns="0" tIns="0" rIns="0" bIns="0" rtlCol="0" anchor="t"/>
          <a:lstStyle/>
          <a:p>
            <a:pPr algn="ctr" indent="0" marL="0">
              <a:buNone/>
            </a:pPr>
            <a:r>
              <a:rPr lang="en-US" sz="1000" dirty="0">
                <a:solidFill>
                  <a:srgbClr val="B0BEC5"/>
                </a:solidFill>
              </a:rPr>
              <a:t>Best MAE</a:t>
            </a:r>
            <a:endParaRPr lang="en-US" sz="1000" dirty="0"/>
          </a:p>
        </p:txBody>
      </p:sp>
      <p:sp>
        <p:nvSpPr>
          <p:cNvPr id="18" name="Shape 15"/>
          <p:cNvSpPr/>
          <p:nvPr/>
        </p:nvSpPr>
        <p:spPr>
          <a:xfrm>
            <a:off x="7735824" y="2606040"/>
            <a:ext cx="1207008" cy="804672"/>
          </a:xfrm>
          <a:prstGeom prst="rect">
            <a:avLst/>
          </a:prstGeom>
          <a:solidFill>
            <a:srgbClr val="37474F"/>
          </a:solidFill>
          <a:ln/>
          <a:effectLst>
            <a:outerShdw sx="100000" sy="100000" kx="0" ky="0" algn="bl" rotWithShape="0" blurRad="101600" dist="38100" dir="8100000">
              <a:srgbClr val="000000">
                <a:alpha val="12000"/>
              </a:srgbClr>
            </a:outerShdw>
          </a:effectLst>
        </p:spPr>
      </p:sp>
      <p:sp>
        <p:nvSpPr>
          <p:cNvPr id="19" name="Text 16"/>
          <p:cNvSpPr/>
          <p:nvPr/>
        </p:nvSpPr>
        <p:spPr>
          <a:xfrm>
            <a:off x="7735824" y="2624328"/>
            <a:ext cx="1207008" cy="475488"/>
          </a:xfrm>
          <a:prstGeom prst="rect">
            <a:avLst/>
          </a:prstGeom>
          <a:noFill/>
          <a:ln/>
        </p:spPr>
        <p:txBody>
          <a:bodyPr wrap="square" lIns="0" tIns="0" rIns="0" bIns="0" rtlCol="0" anchor="b"/>
          <a:lstStyle/>
          <a:p>
            <a:pPr algn="ctr" indent="0" marL="0">
              <a:buNone/>
            </a:pPr>
            <a:r>
              <a:rPr lang="en-US" sz="2000" b="1" dirty="0">
                <a:solidFill>
                  <a:srgbClr val="4DB6AC"/>
                </a:solidFill>
              </a:rPr>
              <a:t>4 tabs</a:t>
            </a:r>
            <a:endParaRPr lang="en-US" sz="2000" dirty="0"/>
          </a:p>
        </p:txBody>
      </p:sp>
      <p:sp>
        <p:nvSpPr>
          <p:cNvPr id="20" name="Text 17"/>
          <p:cNvSpPr/>
          <p:nvPr/>
        </p:nvSpPr>
        <p:spPr>
          <a:xfrm>
            <a:off x="7735824" y="3099816"/>
            <a:ext cx="1207008" cy="274320"/>
          </a:xfrm>
          <a:prstGeom prst="rect">
            <a:avLst/>
          </a:prstGeom>
          <a:noFill/>
          <a:ln/>
        </p:spPr>
        <p:txBody>
          <a:bodyPr wrap="square" lIns="0" tIns="0" rIns="0" bIns="0" rtlCol="0" anchor="t"/>
          <a:lstStyle/>
          <a:p>
            <a:pPr algn="ctr" indent="0" marL="0">
              <a:buNone/>
            </a:pPr>
            <a:r>
              <a:rPr lang="en-US" sz="1000" dirty="0">
                <a:solidFill>
                  <a:srgbClr val="B0BEC5"/>
                </a:solidFill>
              </a:rPr>
              <a:t>App</a:t>
            </a:r>
            <a:endParaRPr lang="en-US" sz="1000" dirty="0"/>
          </a:p>
        </p:txBody>
      </p:sp>
      <p:sp>
        <p:nvSpPr>
          <p:cNvPr id="21" name="Text 18"/>
          <p:cNvSpPr/>
          <p:nvPr/>
        </p:nvSpPr>
        <p:spPr>
          <a:xfrm>
            <a:off x="3840480" y="3584448"/>
            <a:ext cx="5120640" cy="256032"/>
          </a:xfrm>
          <a:prstGeom prst="rect">
            <a:avLst/>
          </a:prstGeom>
          <a:noFill/>
          <a:ln/>
        </p:spPr>
        <p:txBody>
          <a:bodyPr wrap="square" rtlCol="0" anchor="ctr"/>
          <a:lstStyle/>
          <a:p>
            <a:pPr indent="0" marL="0">
              <a:buNone/>
            </a:pPr>
            <a:r>
              <a:rPr lang="en-US" sz="1000" b="1" spc="300" kern="0" dirty="0">
                <a:solidFill>
                  <a:srgbClr val="FF6F00"/>
                </a:solidFill>
              </a:rPr>
              <a:t>TEAM</a:t>
            </a:r>
            <a:endParaRPr lang="en-US" sz="1000" dirty="0"/>
          </a:p>
        </p:txBody>
      </p:sp>
      <p:sp>
        <p:nvSpPr>
          <p:cNvPr id="22" name="Text 19"/>
          <p:cNvSpPr/>
          <p:nvPr/>
        </p:nvSpPr>
        <p:spPr>
          <a:xfrm>
            <a:off x="3840480" y="3886200"/>
            <a:ext cx="5120640" cy="256032"/>
          </a:xfrm>
          <a:prstGeom prst="rect">
            <a:avLst/>
          </a:prstGeom>
          <a:noFill/>
          <a:ln/>
        </p:spPr>
        <p:txBody>
          <a:bodyPr wrap="square" rtlCol="0" anchor="ctr"/>
          <a:lstStyle/>
          <a:p>
            <a:pPr indent="0" marL="0">
              <a:buNone/>
            </a:pPr>
            <a:r>
              <a:rPr lang="en-US" sz="1100" dirty="0">
                <a:solidFill>
                  <a:srgbClr val="B0BEC5"/>
                </a:solidFill>
              </a:rPr>
              <a:t>Mariam Khalil Ibrahim — 230101792</a:t>
            </a:r>
            <a:endParaRPr lang="en-US" sz="1100" dirty="0"/>
          </a:p>
        </p:txBody>
      </p:sp>
      <p:sp>
        <p:nvSpPr>
          <p:cNvPr id="23" name="Text 20"/>
          <p:cNvSpPr/>
          <p:nvPr/>
        </p:nvSpPr>
        <p:spPr>
          <a:xfrm>
            <a:off x="3840480" y="4178808"/>
            <a:ext cx="5120640" cy="256032"/>
          </a:xfrm>
          <a:prstGeom prst="rect">
            <a:avLst/>
          </a:prstGeom>
          <a:noFill/>
          <a:ln/>
        </p:spPr>
        <p:txBody>
          <a:bodyPr wrap="square" rtlCol="0" anchor="ctr"/>
          <a:lstStyle/>
          <a:p>
            <a:pPr indent="0" marL="0">
              <a:buNone/>
            </a:pPr>
            <a:r>
              <a:rPr lang="en-US" sz="1100" dirty="0">
                <a:solidFill>
                  <a:srgbClr val="B0BEC5"/>
                </a:solidFill>
              </a:rPr>
              <a:t>Mahmoud Usama Abdelhameed — 230103270</a:t>
            </a:r>
            <a:endParaRPr lang="en-US" sz="1100" dirty="0"/>
          </a:p>
        </p:txBody>
      </p:sp>
      <p:sp>
        <p:nvSpPr>
          <p:cNvPr id="24" name="Text 21"/>
          <p:cNvSpPr/>
          <p:nvPr/>
        </p:nvSpPr>
        <p:spPr>
          <a:xfrm>
            <a:off x="3840480" y="4471416"/>
            <a:ext cx="5120640" cy="256032"/>
          </a:xfrm>
          <a:prstGeom prst="rect">
            <a:avLst/>
          </a:prstGeom>
          <a:noFill/>
          <a:ln/>
        </p:spPr>
        <p:txBody>
          <a:bodyPr wrap="square" rtlCol="0" anchor="ctr"/>
          <a:lstStyle/>
          <a:p>
            <a:pPr indent="0" marL="0">
              <a:buNone/>
            </a:pPr>
            <a:r>
              <a:rPr lang="en-US" sz="1100" dirty="0">
                <a:solidFill>
                  <a:srgbClr val="B0BEC5"/>
                </a:solidFill>
              </a:rPr>
              <a:t>Omar Abdulaal Reda — 230103273</a:t>
            </a:r>
            <a:endParaRPr lang="en-US" sz="1100" dirty="0"/>
          </a:p>
        </p:txBody>
      </p:sp>
      <p:sp>
        <p:nvSpPr>
          <p:cNvPr id="25" name="Text 22"/>
          <p:cNvSpPr/>
          <p:nvPr/>
        </p:nvSpPr>
        <p:spPr>
          <a:xfrm>
            <a:off x="3840480" y="4800600"/>
            <a:ext cx="5120640" cy="256032"/>
          </a:xfrm>
          <a:prstGeom prst="rect">
            <a:avLst/>
          </a:prstGeom>
          <a:noFill/>
          <a:ln/>
        </p:spPr>
        <p:txBody>
          <a:bodyPr wrap="square" rtlCol="0" anchor="ctr"/>
          <a:lstStyle/>
          <a:p>
            <a:pPr indent="0" marL="0">
              <a:buNone/>
            </a:pPr>
            <a:r>
              <a:rPr lang="en-US" sz="1000" i="1" dirty="0">
                <a:solidFill>
                  <a:srgbClr val="546E7A"/>
                </a:solidFill>
              </a:rPr>
              <a:t>Computer Vision &amp; Image Processing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Calorie Estimator — Final Project</dc:title>
  <dc:subject>PptxGenJS Presentation</dc:subject>
  <dc:creator>PptxGenJS</dc:creator>
  <cp:lastModifiedBy>PptxGenJS</cp:lastModifiedBy>
  <cp:revision>1</cp:revision>
  <dcterms:created xsi:type="dcterms:W3CDTF">2026-05-09T20:50:14Z</dcterms:created>
  <dcterms:modified xsi:type="dcterms:W3CDTF">2026-05-09T20:50:14Z</dcterms:modified>
</cp:coreProperties>
</file>